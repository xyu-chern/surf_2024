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Lst>
  <p:sldSz cx="21383625" cy="30274895"/>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46" autoAdjust="0"/>
  </p:normalViewPr>
  <p:slideViewPr>
    <p:cSldViewPr snapToGrid="0">
      <p:cViewPr>
        <p:scale>
          <a:sx n="33" d="100"/>
          <a:sy n="33" d="100"/>
        </p:scale>
        <p:origin x="1388" y="-2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customXml" Target="../customXml/item2.xml"/><Relationship Id="rId8" Type="http://schemas.openxmlformats.org/officeDocument/2006/relationships/customXml" Target="../customXml/item1.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gs" Target="tags/tag4.xml"/><Relationship Id="rId10" Type="http://schemas.openxmlformats.org/officeDocument/2006/relationships/customXml" Target="../customXml/item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BC745-B1D7-4D24-9E76-32EA2CA7A1E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E8CD5-7ACA-478E-B0F5-72B6731EF8F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2479675" rtl="0" eaLnBrk="1" latinLnBrk="0" hangingPunct="1">
      <a:defRPr sz="3255" kern="1200">
        <a:solidFill>
          <a:schemeClr val="tx1"/>
        </a:solidFill>
        <a:latin typeface="+mn-lt"/>
        <a:ea typeface="+mn-ea"/>
        <a:cs typeface="+mn-cs"/>
      </a:defRPr>
    </a:lvl1pPr>
    <a:lvl2pPr marL="1239520" algn="l" defTabSz="2479675" rtl="0" eaLnBrk="1" latinLnBrk="0" hangingPunct="1">
      <a:defRPr sz="3255" kern="1200">
        <a:solidFill>
          <a:schemeClr val="tx1"/>
        </a:solidFill>
        <a:latin typeface="+mn-lt"/>
        <a:ea typeface="+mn-ea"/>
        <a:cs typeface="+mn-cs"/>
      </a:defRPr>
    </a:lvl2pPr>
    <a:lvl3pPr marL="2479675" algn="l" defTabSz="2479675" rtl="0" eaLnBrk="1" latinLnBrk="0" hangingPunct="1">
      <a:defRPr sz="3255" kern="1200">
        <a:solidFill>
          <a:schemeClr val="tx1"/>
        </a:solidFill>
        <a:latin typeface="+mn-lt"/>
        <a:ea typeface="+mn-ea"/>
        <a:cs typeface="+mn-cs"/>
      </a:defRPr>
    </a:lvl3pPr>
    <a:lvl4pPr marL="3719195" algn="l" defTabSz="2479675" rtl="0" eaLnBrk="1" latinLnBrk="0" hangingPunct="1">
      <a:defRPr sz="3255" kern="1200">
        <a:solidFill>
          <a:schemeClr val="tx1"/>
        </a:solidFill>
        <a:latin typeface="+mn-lt"/>
        <a:ea typeface="+mn-ea"/>
        <a:cs typeface="+mn-cs"/>
      </a:defRPr>
    </a:lvl4pPr>
    <a:lvl5pPr marL="4959350" algn="l" defTabSz="2479675" rtl="0" eaLnBrk="1" latinLnBrk="0" hangingPunct="1">
      <a:defRPr sz="3255" kern="1200">
        <a:solidFill>
          <a:schemeClr val="tx1"/>
        </a:solidFill>
        <a:latin typeface="+mn-lt"/>
        <a:ea typeface="+mn-ea"/>
        <a:cs typeface="+mn-cs"/>
      </a:defRPr>
    </a:lvl5pPr>
    <a:lvl6pPr marL="6198870" algn="l" defTabSz="2479675" rtl="0" eaLnBrk="1" latinLnBrk="0" hangingPunct="1">
      <a:defRPr sz="3255" kern="1200">
        <a:solidFill>
          <a:schemeClr val="tx1"/>
        </a:solidFill>
        <a:latin typeface="+mn-lt"/>
        <a:ea typeface="+mn-ea"/>
        <a:cs typeface="+mn-cs"/>
      </a:defRPr>
    </a:lvl6pPr>
    <a:lvl7pPr marL="7439025" algn="l" defTabSz="2479675" rtl="0" eaLnBrk="1" latinLnBrk="0" hangingPunct="1">
      <a:defRPr sz="3255" kern="1200">
        <a:solidFill>
          <a:schemeClr val="tx1"/>
        </a:solidFill>
        <a:latin typeface="+mn-lt"/>
        <a:ea typeface="+mn-ea"/>
        <a:cs typeface="+mn-cs"/>
      </a:defRPr>
    </a:lvl7pPr>
    <a:lvl8pPr marL="8678545" algn="l" defTabSz="2479675" rtl="0" eaLnBrk="1" latinLnBrk="0" hangingPunct="1">
      <a:defRPr sz="3255" kern="1200">
        <a:solidFill>
          <a:schemeClr val="tx1"/>
        </a:solidFill>
        <a:latin typeface="+mn-lt"/>
        <a:ea typeface="+mn-ea"/>
        <a:cs typeface="+mn-cs"/>
      </a:defRPr>
    </a:lvl8pPr>
    <a:lvl9pPr marL="9918065" algn="l" defTabSz="2479675" rtl="0" eaLnBrk="1" latinLnBrk="0" hangingPunct="1">
      <a:defRPr sz="32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BE8CD5-7ACA-478E-B0F5-72B6731EF8F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0"/>
            </a:lvl1pPr>
          </a:lstStyle>
          <a:p>
            <a:r>
              <a:rPr lang="zh-CN" altLang="en-US"/>
              <a:t>单击此处编辑母版标题样式</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0"/>
            </a:lvl1pPr>
            <a:lvl2pPr marL="1069340" indent="0" algn="ctr">
              <a:buNone/>
              <a:defRPr sz="4675"/>
            </a:lvl2pPr>
            <a:lvl3pPr marL="2138045" indent="0" algn="ctr">
              <a:buNone/>
              <a:defRPr sz="4210"/>
            </a:lvl3pPr>
            <a:lvl4pPr marL="3207385" indent="0" algn="ctr">
              <a:buNone/>
              <a:defRPr sz="3740"/>
            </a:lvl4pPr>
            <a:lvl5pPr marL="4276725" indent="0" algn="ctr">
              <a:buNone/>
              <a:defRPr sz="3740"/>
            </a:lvl5pPr>
            <a:lvl6pPr marL="5346065" indent="0" algn="ctr">
              <a:buNone/>
              <a:defRPr sz="3740"/>
            </a:lvl6pPr>
            <a:lvl7pPr marL="6414770" indent="0" algn="ctr">
              <a:buNone/>
              <a:defRPr sz="3740"/>
            </a:lvl7pPr>
            <a:lvl8pPr marL="7484110" indent="0" algn="ctr">
              <a:buNone/>
              <a:defRPr sz="3740"/>
            </a:lvl8pPr>
            <a:lvl9pPr marL="8553450" indent="0" algn="ctr">
              <a:buNone/>
              <a:defRPr sz="37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0"/>
            </a:lvl1pPr>
          </a:lstStyle>
          <a:p>
            <a:r>
              <a:rPr lang="zh-CN" altLang="en-US"/>
              <a:t>单击此处编辑母版标题样式</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0">
                <a:solidFill>
                  <a:schemeClr val="tx1"/>
                </a:solidFill>
              </a:defRPr>
            </a:lvl1pPr>
            <a:lvl2pPr marL="1069340" indent="0">
              <a:buNone/>
              <a:defRPr sz="4675">
                <a:solidFill>
                  <a:schemeClr val="tx1">
                    <a:tint val="75000"/>
                  </a:schemeClr>
                </a:solidFill>
              </a:defRPr>
            </a:lvl2pPr>
            <a:lvl3pPr marL="2138045" indent="0">
              <a:buNone/>
              <a:defRPr sz="4210">
                <a:solidFill>
                  <a:schemeClr val="tx1">
                    <a:tint val="75000"/>
                  </a:schemeClr>
                </a:solidFill>
              </a:defRPr>
            </a:lvl3pPr>
            <a:lvl4pPr marL="3207385" indent="0">
              <a:buNone/>
              <a:defRPr sz="3740">
                <a:solidFill>
                  <a:schemeClr val="tx1">
                    <a:tint val="75000"/>
                  </a:schemeClr>
                </a:solidFill>
              </a:defRPr>
            </a:lvl4pPr>
            <a:lvl5pPr marL="4276725" indent="0">
              <a:buNone/>
              <a:defRPr sz="3740">
                <a:solidFill>
                  <a:schemeClr val="tx1">
                    <a:tint val="75000"/>
                  </a:schemeClr>
                </a:solidFill>
              </a:defRPr>
            </a:lvl5pPr>
            <a:lvl6pPr marL="5346065" indent="0">
              <a:buNone/>
              <a:defRPr sz="3740">
                <a:solidFill>
                  <a:schemeClr val="tx1">
                    <a:tint val="75000"/>
                  </a:schemeClr>
                </a:solidFill>
              </a:defRPr>
            </a:lvl6pPr>
            <a:lvl7pPr marL="6414770" indent="0">
              <a:buNone/>
              <a:defRPr sz="3740">
                <a:solidFill>
                  <a:schemeClr val="tx1">
                    <a:tint val="75000"/>
                  </a:schemeClr>
                </a:solidFill>
              </a:defRPr>
            </a:lvl7pPr>
            <a:lvl8pPr marL="7484110" indent="0">
              <a:buNone/>
              <a:defRPr sz="3740">
                <a:solidFill>
                  <a:schemeClr val="tx1">
                    <a:tint val="75000"/>
                  </a:schemeClr>
                </a:solidFill>
              </a:defRPr>
            </a:lvl8pPr>
            <a:lvl9pPr marL="8553450" indent="0">
              <a:buNone/>
              <a:defRPr sz="374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0" b="1"/>
            </a:lvl1pPr>
            <a:lvl2pPr marL="1069340" indent="0">
              <a:buNone/>
              <a:defRPr sz="4675" b="1"/>
            </a:lvl2pPr>
            <a:lvl3pPr marL="2138045" indent="0">
              <a:buNone/>
              <a:defRPr sz="4210" b="1"/>
            </a:lvl3pPr>
            <a:lvl4pPr marL="3207385" indent="0">
              <a:buNone/>
              <a:defRPr sz="3740" b="1"/>
            </a:lvl4pPr>
            <a:lvl5pPr marL="4276725" indent="0">
              <a:buNone/>
              <a:defRPr sz="3740" b="1"/>
            </a:lvl5pPr>
            <a:lvl6pPr marL="5346065" indent="0">
              <a:buNone/>
              <a:defRPr sz="3740" b="1"/>
            </a:lvl6pPr>
            <a:lvl7pPr marL="6414770" indent="0">
              <a:buNone/>
              <a:defRPr sz="3740" b="1"/>
            </a:lvl7pPr>
            <a:lvl8pPr marL="7484110" indent="0">
              <a:buNone/>
              <a:defRPr sz="3740" b="1"/>
            </a:lvl8pPr>
            <a:lvl9pPr marL="8553450" indent="0">
              <a:buNone/>
              <a:defRPr sz="374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472912" y="11058863"/>
            <a:ext cx="9046274" cy="1626592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0" b="1"/>
            </a:lvl1pPr>
            <a:lvl2pPr marL="1069340" indent="0">
              <a:buNone/>
              <a:defRPr sz="4675" b="1"/>
            </a:lvl2pPr>
            <a:lvl3pPr marL="2138045" indent="0">
              <a:buNone/>
              <a:defRPr sz="4210" b="1"/>
            </a:lvl3pPr>
            <a:lvl4pPr marL="3207385" indent="0">
              <a:buNone/>
              <a:defRPr sz="3740" b="1"/>
            </a:lvl4pPr>
            <a:lvl5pPr marL="4276725" indent="0">
              <a:buNone/>
              <a:defRPr sz="3740" b="1"/>
            </a:lvl5pPr>
            <a:lvl6pPr marL="5346065" indent="0">
              <a:buNone/>
              <a:defRPr sz="3740" b="1"/>
            </a:lvl6pPr>
            <a:lvl7pPr marL="6414770" indent="0">
              <a:buNone/>
              <a:defRPr sz="3740" b="1"/>
            </a:lvl7pPr>
            <a:lvl8pPr marL="7484110" indent="0">
              <a:buNone/>
              <a:defRPr sz="3740" b="1"/>
            </a:lvl8pPr>
            <a:lvl9pPr marL="8553450" indent="0">
              <a:buNone/>
              <a:defRPr sz="374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10825461" y="11058863"/>
            <a:ext cx="9090826" cy="1626592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5"/>
            </a:lvl1pPr>
          </a:lstStyle>
          <a:p>
            <a:r>
              <a:rPr lang="zh-CN" altLang="en-US"/>
              <a:t>单击此处编辑母版标题样式</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5"/>
            </a:lvl1pPr>
            <a:lvl2pPr>
              <a:defRPr sz="6550"/>
            </a:lvl2pPr>
            <a:lvl3pPr>
              <a:defRPr sz="5610"/>
            </a:lvl3pPr>
            <a:lvl4pPr>
              <a:defRPr sz="4675"/>
            </a:lvl4pPr>
            <a:lvl5pPr>
              <a:defRPr sz="4675"/>
            </a:lvl5pPr>
            <a:lvl6pPr>
              <a:defRPr sz="4675"/>
            </a:lvl6pPr>
            <a:lvl7pPr>
              <a:defRPr sz="4675"/>
            </a:lvl7pPr>
            <a:lvl8pPr>
              <a:defRPr sz="4675"/>
            </a:lvl8pPr>
            <a:lvl9pPr>
              <a:defRPr sz="4675"/>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0"/>
            </a:lvl1pPr>
            <a:lvl2pPr marL="1069340" indent="0">
              <a:buNone/>
              <a:defRPr sz="3275"/>
            </a:lvl2pPr>
            <a:lvl3pPr marL="2138045" indent="0">
              <a:buNone/>
              <a:defRPr sz="2805"/>
            </a:lvl3pPr>
            <a:lvl4pPr marL="3207385" indent="0">
              <a:buNone/>
              <a:defRPr sz="2340"/>
            </a:lvl4pPr>
            <a:lvl5pPr marL="4276725" indent="0">
              <a:buNone/>
              <a:defRPr sz="2340"/>
            </a:lvl5pPr>
            <a:lvl6pPr marL="5346065" indent="0">
              <a:buNone/>
              <a:defRPr sz="2340"/>
            </a:lvl6pPr>
            <a:lvl7pPr marL="6414770" indent="0">
              <a:buNone/>
              <a:defRPr sz="2340"/>
            </a:lvl7pPr>
            <a:lvl8pPr marL="7484110" indent="0">
              <a:buNone/>
              <a:defRPr sz="2340"/>
            </a:lvl8pPr>
            <a:lvl9pPr marL="8553450" indent="0">
              <a:buNone/>
              <a:defRPr sz="234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5"/>
            </a:lvl1pPr>
            <a:lvl2pPr marL="1069340" indent="0">
              <a:buNone/>
              <a:defRPr sz="6550"/>
            </a:lvl2pPr>
            <a:lvl3pPr marL="2138045" indent="0">
              <a:buNone/>
              <a:defRPr sz="5610"/>
            </a:lvl3pPr>
            <a:lvl4pPr marL="3207385" indent="0">
              <a:buNone/>
              <a:defRPr sz="4675"/>
            </a:lvl4pPr>
            <a:lvl5pPr marL="4276725" indent="0">
              <a:buNone/>
              <a:defRPr sz="4675"/>
            </a:lvl5pPr>
            <a:lvl6pPr marL="5346065" indent="0">
              <a:buNone/>
              <a:defRPr sz="4675"/>
            </a:lvl6pPr>
            <a:lvl7pPr marL="6414770" indent="0">
              <a:buNone/>
              <a:defRPr sz="4675"/>
            </a:lvl7pPr>
            <a:lvl8pPr marL="7484110" indent="0">
              <a:buNone/>
              <a:defRPr sz="4675"/>
            </a:lvl8pPr>
            <a:lvl9pPr marL="8553450" indent="0">
              <a:buNone/>
              <a:defRPr sz="4675"/>
            </a:lvl9pPr>
          </a:lstStyle>
          <a:p>
            <a:r>
              <a:rPr lang="zh-CN" altLang="en-US"/>
              <a:t>单击图标添加图片</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0"/>
            </a:lvl1pPr>
            <a:lvl2pPr marL="1069340" indent="0">
              <a:buNone/>
              <a:defRPr sz="3275"/>
            </a:lvl2pPr>
            <a:lvl3pPr marL="2138045" indent="0">
              <a:buNone/>
              <a:defRPr sz="2805"/>
            </a:lvl3pPr>
            <a:lvl4pPr marL="3207385" indent="0">
              <a:buNone/>
              <a:defRPr sz="2340"/>
            </a:lvl4pPr>
            <a:lvl5pPr marL="4276725" indent="0">
              <a:buNone/>
              <a:defRPr sz="2340"/>
            </a:lvl5pPr>
            <a:lvl6pPr marL="5346065" indent="0">
              <a:buNone/>
              <a:defRPr sz="2340"/>
            </a:lvl6pPr>
            <a:lvl7pPr marL="6414770" indent="0">
              <a:buNone/>
              <a:defRPr sz="2340"/>
            </a:lvl7pPr>
            <a:lvl8pPr marL="7484110" indent="0">
              <a:buNone/>
              <a:defRPr sz="2340"/>
            </a:lvl8pPr>
            <a:lvl9pPr marL="8553450" indent="0">
              <a:buNone/>
              <a:defRPr sz="234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5">
                <a:solidFill>
                  <a:schemeClr val="tx1">
                    <a:tint val="75000"/>
                  </a:schemeClr>
                </a:solidFill>
              </a:defRPr>
            </a:lvl1p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5">
                <a:solidFill>
                  <a:schemeClr val="tx1">
                    <a:tint val="75000"/>
                  </a:schemeClr>
                </a:solidFill>
              </a:defRPr>
            </a:lvl1pPr>
          </a:lstStyle>
          <a:p>
            <a:fld id="{702C3444-A0A2-4B59-9837-06A377E1B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2138045" rtl="0" eaLnBrk="1" latinLnBrk="0" hangingPunct="1">
        <a:lnSpc>
          <a:spcPct val="90000"/>
        </a:lnSpc>
        <a:spcBef>
          <a:spcPct val="0"/>
        </a:spcBef>
        <a:buNone/>
        <a:defRPr sz="10290" kern="1200">
          <a:solidFill>
            <a:schemeClr val="tx1"/>
          </a:solidFill>
          <a:latin typeface="+mj-lt"/>
          <a:ea typeface="+mj-ea"/>
          <a:cs typeface="+mj-cs"/>
        </a:defRPr>
      </a:lvl1pPr>
    </p:titleStyle>
    <p:bodyStyle>
      <a:lvl1pPr marL="534670" indent="-534670" algn="l" defTabSz="2138045" rtl="0" eaLnBrk="1" latinLnBrk="0" hangingPunct="1">
        <a:lnSpc>
          <a:spcPct val="90000"/>
        </a:lnSpc>
        <a:spcBef>
          <a:spcPts val="2340"/>
        </a:spcBef>
        <a:buFont typeface="Arial" panose="020B0604020202020204" pitchFamily="34" charset="0"/>
        <a:buChar char="•"/>
        <a:defRPr sz="6550" kern="1200">
          <a:solidFill>
            <a:schemeClr val="tx1"/>
          </a:solidFill>
          <a:latin typeface="+mn-lt"/>
          <a:ea typeface="+mn-ea"/>
          <a:cs typeface="+mn-cs"/>
        </a:defRPr>
      </a:lvl1pPr>
      <a:lvl2pPr marL="1604010" indent="-534670" algn="l" defTabSz="2138045" rtl="0" eaLnBrk="1" latinLnBrk="0" hangingPunct="1">
        <a:lnSpc>
          <a:spcPct val="90000"/>
        </a:lnSpc>
        <a:spcBef>
          <a:spcPts val="1170"/>
        </a:spcBef>
        <a:buFont typeface="Arial" panose="020B0604020202020204" pitchFamily="34" charset="0"/>
        <a:buChar char="•"/>
        <a:defRPr sz="5610" kern="1200">
          <a:solidFill>
            <a:schemeClr val="tx1"/>
          </a:solidFill>
          <a:latin typeface="+mn-lt"/>
          <a:ea typeface="+mn-ea"/>
          <a:cs typeface="+mn-cs"/>
        </a:defRPr>
      </a:lvl2pPr>
      <a:lvl3pPr marL="2672715" indent="-534670" algn="l" defTabSz="2138045" rtl="0" eaLnBrk="1" latinLnBrk="0" hangingPunct="1">
        <a:lnSpc>
          <a:spcPct val="90000"/>
        </a:lnSpc>
        <a:spcBef>
          <a:spcPts val="1170"/>
        </a:spcBef>
        <a:buFont typeface="Arial" panose="020B0604020202020204" pitchFamily="34" charset="0"/>
        <a:buChar char="•"/>
        <a:defRPr sz="4675" kern="1200">
          <a:solidFill>
            <a:schemeClr val="tx1"/>
          </a:solidFill>
          <a:latin typeface="+mn-lt"/>
          <a:ea typeface="+mn-ea"/>
          <a:cs typeface="+mn-cs"/>
        </a:defRPr>
      </a:lvl3pPr>
      <a:lvl4pPr marL="3742055"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4pPr>
      <a:lvl5pPr marL="4811395"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5pPr>
      <a:lvl6pPr marL="588010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6pPr>
      <a:lvl7pPr marL="694944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7pPr>
      <a:lvl8pPr marL="801878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8pPr>
      <a:lvl9pPr marL="908812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9pPr>
    </p:bodyStyle>
    <p:otherStyle>
      <a:defPPr>
        <a:defRPr lang="en-US"/>
      </a:defPPr>
      <a:lvl1pPr marL="0" algn="l" defTabSz="2138045" rtl="0" eaLnBrk="1" latinLnBrk="0" hangingPunct="1">
        <a:defRPr sz="4210" kern="1200">
          <a:solidFill>
            <a:schemeClr val="tx1"/>
          </a:solidFill>
          <a:latin typeface="+mn-lt"/>
          <a:ea typeface="+mn-ea"/>
          <a:cs typeface="+mn-cs"/>
        </a:defRPr>
      </a:lvl1pPr>
      <a:lvl2pPr marL="1069340" algn="l" defTabSz="2138045" rtl="0" eaLnBrk="1" latinLnBrk="0" hangingPunct="1">
        <a:defRPr sz="4210" kern="1200">
          <a:solidFill>
            <a:schemeClr val="tx1"/>
          </a:solidFill>
          <a:latin typeface="+mn-lt"/>
          <a:ea typeface="+mn-ea"/>
          <a:cs typeface="+mn-cs"/>
        </a:defRPr>
      </a:lvl2pPr>
      <a:lvl3pPr marL="2138045" algn="l" defTabSz="2138045" rtl="0" eaLnBrk="1" latinLnBrk="0" hangingPunct="1">
        <a:defRPr sz="4210" kern="1200">
          <a:solidFill>
            <a:schemeClr val="tx1"/>
          </a:solidFill>
          <a:latin typeface="+mn-lt"/>
          <a:ea typeface="+mn-ea"/>
          <a:cs typeface="+mn-cs"/>
        </a:defRPr>
      </a:lvl3pPr>
      <a:lvl4pPr marL="3207385" algn="l" defTabSz="2138045" rtl="0" eaLnBrk="1" latinLnBrk="0" hangingPunct="1">
        <a:defRPr sz="4210" kern="1200">
          <a:solidFill>
            <a:schemeClr val="tx1"/>
          </a:solidFill>
          <a:latin typeface="+mn-lt"/>
          <a:ea typeface="+mn-ea"/>
          <a:cs typeface="+mn-cs"/>
        </a:defRPr>
      </a:lvl4pPr>
      <a:lvl5pPr marL="4276725" algn="l" defTabSz="2138045" rtl="0" eaLnBrk="1" latinLnBrk="0" hangingPunct="1">
        <a:defRPr sz="4210" kern="1200">
          <a:solidFill>
            <a:schemeClr val="tx1"/>
          </a:solidFill>
          <a:latin typeface="+mn-lt"/>
          <a:ea typeface="+mn-ea"/>
          <a:cs typeface="+mn-cs"/>
        </a:defRPr>
      </a:lvl5pPr>
      <a:lvl6pPr marL="5346065" algn="l" defTabSz="2138045" rtl="0" eaLnBrk="1" latinLnBrk="0" hangingPunct="1">
        <a:defRPr sz="4210" kern="1200">
          <a:solidFill>
            <a:schemeClr val="tx1"/>
          </a:solidFill>
          <a:latin typeface="+mn-lt"/>
          <a:ea typeface="+mn-ea"/>
          <a:cs typeface="+mn-cs"/>
        </a:defRPr>
      </a:lvl6pPr>
      <a:lvl7pPr marL="6414770" algn="l" defTabSz="2138045" rtl="0" eaLnBrk="1" latinLnBrk="0" hangingPunct="1">
        <a:defRPr sz="4210" kern="1200">
          <a:solidFill>
            <a:schemeClr val="tx1"/>
          </a:solidFill>
          <a:latin typeface="+mn-lt"/>
          <a:ea typeface="+mn-ea"/>
          <a:cs typeface="+mn-cs"/>
        </a:defRPr>
      </a:lvl7pPr>
      <a:lvl8pPr marL="7484110" algn="l" defTabSz="2138045" rtl="0" eaLnBrk="1" latinLnBrk="0" hangingPunct="1">
        <a:defRPr sz="4210" kern="1200">
          <a:solidFill>
            <a:schemeClr val="tx1"/>
          </a:solidFill>
          <a:latin typeface="+mn-lt"/>
          <a:ea typeface="+mn-ea"/>
          <a:cs typeface="+mn-cs"/>
        </a:defRPr>
      </a:lvl8pPr>
      <a:lvl9pPr marL="8553450" algn="l" defTabSz="2138045" rtl="0" eaLnBrk="1" latinLnBrk="0" hangingPunct="1">
        <a:defRPr sz="4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jpe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3" Type="http://schemas.openxmlformats.org/officeDocument/2006/relationships/notesSlide" Target="../notesSlides/notesSlide1.xml"/><Relationship Id="rId12" Type="http://schemas.openxmlformats.org/officeDocument/2006/relationships/slideLayout" Target="../slideLayouts/slideLayout12.xml"/><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object 23"/>
          <p:cNvSpPr txBox="1"/>
          <p:nvPr/>
        </p:nvSpPr>
        <p:spPr>
          <a:xfrm>
            <a:off x="142520" y="2827214"/>
            <a:ext cx="2297894" cy="448984"/>
          </a:xfrm>
          <a:prstGeom prst="rect">
            <a:avLst/>
          </a:prstGeom>
        </p:spPr>
        <p:txBody>
          <a:bodyPr vert="horz" wrap="square" lIns="0" tIns="20081" rIns="0" bIns="0" rtlCol="0">
            <a:spAutoFit/>
          </a:bodyPr>
          <a:lstStyle/>
          <a:p>
            <a:pPr marL="19050">
              <a:spcBef>
                <a:spcPts val="160"/>
              </a:spcBef>
            </a:pPr>
            <a:r>
              <a:rPr lang="en-US" sz="2785" b="1" spc="-8" dirty="0">
                <a:latin typeface="Tahoma" panose="020B0604030504040204"/>
                <a:cs typeface="Tahoma" panose="020B0604030504040204"/>
              </a:rPr>
              <a:t>Abstract</a:t>
            </a:r>
            <a:endParaRPr sz="2785" dirty="0">
              <a:latin typeface="Tahoma" panose="020B0604030504040204"/>
              <a:cs typeface="Tahoma" panose="020B0604030504040204"/>
            </a:endParaRPr>
          </a:p>
        </p:txBody>
      </p:sp>
      <p:sp>
        <p:nvSpPr>
          <p:cNvPr id="135" name="矩形 134"/>
          <p:cNvSpPr/>
          <p:nvPr/>
        </p:nvSpPr>
        <p:spPr>
          <a:xfrm>
            <a:off x="0" y="-2120583"/>
            <a:ext cx="21383625" cy="32395796"/>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2710" b="1" i="1" dirty="0">
                <a:solidFill>
                  <a:schemeClr val="tx1"/>
                </a:solidFill>
                <a:cs typeface="+mn-lt"/>
                <a:sym typeface="+mn-ea"/>
              </a:rPr>
              <a:t>  </a:t>
            </a:r>
            <a:r>
              <a:rPr lang="en-US" altLang="zh-CN" sz="2710" b="1" i="1" dirty="0">
                <a:solidFill>
                  <a:schemeClr val="tx1"/>
                </a:solidFill>
                <a:cs typeface="+mn-lt"/>
                <a:sym typeface="+mn-ea"/>
              </a:rPr>
              <a:t> </a:t>
            </a:r>
            <a:endParaRPr lang="zh-CN" altLang="en-US" sz="2710" dirty="0"/>
          </a:p>
        </p:txBody>
      </p:sp>
      <p:pic>
        <p:nvPicPr>
          <p:cNvPr id="5" name="object 5"/>
          <p:cNvPicPr/>
          <p:nvPr/>
        </p:nvPicPr>
        <p:blipFill rotWithShape="1">
          <a:blip r:embed="rId1" cstate="print"/>
          <a:srcRect b="47377"/>
          <a:stretch>
            <a:fillRect/>
          </a:stretch>
        </p:blipFill>
        <p:spPr>
          <a:xfrm>
            <a:off x="323691" y="-607695"/>
            <a:ext cx="5635625" cy="2145665"/>
          </a:xfrm>
          <a:prstGeom prst="rect">
            <a:avLst/>
          </a:prstGeom>
          <a:solidFill>
            <a:schemeClr val="bg1"/>
          </a:solidFill>
        </p:spPr>
      </p:pic>
      <p:sp>
        <p:nvSpPr>
          <p:cNvPr id="119" name="文本框 118"/>
          <p:cNvSpPr txBox="1"/>
          <p:nvPr/>
        </p:nvSpPr>
        <p:spPr>
          <a:xfrm>
            <a:off x="6217761" y="-671195"/>
            <a:ext cx="14935200" cy="1938020"/>
          </a:xfrm>
          <a:prstGeom prst="rect">
            <a:avLst/>
          </a:prstGeom>
          <a:noFill/>
        </p:spPr>
        <p:txBody>
          <a:bodyPr wrap="square" rtlCol="0">
            <a:spAutoFit/>
          </a:bodyPr>
          <a:lstStyle/>
          <a:p>
            <a:pPr algn="ctr"/>
            <a:r>
              <a:rPr lang="en-US" altLang="zh-CN" sz="6000" b="1" i="1" dirty="0">
                <a:solidFill>
                  <a:schemeClr val="bg1"/>
                </a:solidFill>
                <a:latin typeface="Calibri" panose="020F0502020204030204" charset="0"/>
                <a:ea typeface="Segoe UI Black" panose="020B0A02040204020203" pitchFamily="34" charset="0"/>
                <a:cs typeface="Calibri" panose="020F0502020204030204" charset="0"/>
                <a:sym typeface="+mn-ea"/>
              </a:rPr>
              <a:t>Unsupervised Exploration and Offline Reinforcement Learning</a:t>
            </a:r>
            <a:endParaRPr lang="en-US" altLang="zh-CN" sz="6000" b="1" i="1" dirty="0">
              <a:solidFill>
                <a:schemeClr val="bg1"/>
              </a:solidFill>
              <a:latin typeface="Calibri" panose="020F0502020204030204" charset="0"/>
              <a:ea typeface="Segoe UI Black" panose="020B0A02040204020203" pitchFamily="34" charset="0"/>
              <a:cs typeface="Calibri" panose="020F0502020204030204" charset="0"/>
              <a:sym typeface="+mn-ea"/>
            </a:endParaRPr>
          </a:p>
        </p:txBody>
      </p:sp>
      <p:sp>
        <p:nvSpPr>
          <p:cNvPr id="6" name="object 7"/>
          <p:cNvSpPr txBox="1"/>
          <p:nvPr/>
        </p:nvSpPr>
        <p:spPr>
          <a:xfrm>
            <a:off x="324376" y="2678112"/>
            <a:ext cx="20827365" cy="2195195"/>
          </a:xfrm>
          <a:prstGeom prst="rect">
            <a:avLst/>
          </a:prstGeom>
          <a:solidFill>
            <a:schemeClr val="bg1"/>
          </a:solidFill>
        </p:spPr>
        <p:txBody>
          <a:bodyPr vert="horz" wrap="square" lIns="0" tIns="21992" rIns="0" bIns="0" rtlCol="0">
            <a:spAutoFit/>
          </a:bodyPr>
          <a:lstStyle/>
          <a:p>
            <a:pPr marL="19050" marR="7620">
              <a:lnSpc>
                <a:spcPct val="101000"/>
              </a:lnSpc>
              <a:spcBef>
                <a:spcPts val="170"/>
              </a:spcBef>
            </a:pPr>
            <a:r>
              <a:rPr altLang="zh-CN" sz="2800" i="1" dirty="0">
                <a:solidFill>
                  <a:srgbClr val="303030"/>
                </a:solidFill>
                <a:cs typeface="+mn-lt"/>
                <a:sym typeface="+mn-ea"/>
              </a:rPr>
              <a:t>Imagine teaching a robot to navigate a maze without providing step-by-step instructions or rewards for each correct move. This research project explores innovative ways to enable machines to learn and make decisions independently. By allowing the machine to explore its environment freely, it can gather valuable information and experiences without constant human guidance. Additionally, we will investigate methods that allow the machine to learn from previously collected data, reducing the need for continuous real-time interaction during the learning process. The goal is to develop intelligent systems that can explore effectively in complex environments, even when direct feedback is limited.</a:t>
            </a:r>
            <a:endParaRPr altLang="zh-CN" sz="2800" i="1" dirty="0">
              <a:solidFill>
                <a:srgbClr val="303030"/>
              </a:solidFill>
              <a:cs typeface="+mn-lt"/>
              <a:sym typeface="+mn-ea"/>
            </a:endParaRPr>
          </a:p>
        </p:txBody>
      </p:sp>
      <p:sp>
        <p:nvSpPr>
          <p:cNvPr id="20" name="文本框 19"/>
          <p:cNvSpPr txBox="1"/>
          <p:nvPr/>
        </p:nvSpPr>
        <p:spPr>
          <a:xfrm>
            <a:off x="323691" y="1923213"/>
            <a:ext cx="2779621" cy="706755"/>
          </a:xfrm>
          <a:prstGeom prst="rect">
            <a:avLst/>
          </a:prstGeom>
          <a:noFill/>
        </p:spPr>
        <p:txBody>
          <a:bodyPr wrap="square" rtlCol="0">
            <a:spAutoFit/>
          </a:bodyPr>
          <a:lstStyle/>
          <a:p>
            <a:r>
              <a:rPr lang="en-US" altLang="zh-CN" sz="4000" b="1" i="1" dirty="0">
                <a:solidFill>
                  <a:schemeClr val="bg1"/>
                </a:solidFill>
                <a:latin typeface="Calibri" panose="020F0502020204030204" charset="0"/>
                <a:ea typeface="Cascadia Code SemiBold" panose="020B0609020000020004" pitchFamily="49" charset="0"/>
                <a:cs typeface="Calibri" panose="020F0502020204030204" charset="0"/>
              </a:rPr>
              <a:t>Abstract</a:t>
            </a:r>
            <a:endParaRPr lang="zh-CN" altLang="en-US" sz="4000" b="1" i="1" dirty="0">
              <a:solidFill>
                <a:schemeClr val="bg1"/>
              </a:solidFill>
              <a:latin typeface="Calibri" panose="020F0502020204030204" charset="0"/>
              <a:cs typeface="Calibri" panose="020F0502020204030204" charset="0"/>
            </a:endParaRPr>
          </a:p>
        </p:txBody>
      </p:sp>
      <p:sp>
        <p:nvSpPr>
          <p:cNvPr id="33" name="object 65"/>
          <p:cNvSpPr txBox="1"/>
          <p:nvPr/>
        </p:nvSpPr>
        <p:spPr>
          <a:xfrm>
            <a:off x="323056" y="5241925"/>
            <a:ext cx="4804410" cy="635000"/>
          </a:xfrm>
          <a:prstGeom prst="rect">
            <a:avLst/>
          </a:prstGeom>
        </p:spPr>
        <p:txBody>
          <a:bodyPr vert="horz" wrap="square" lIns="0" tIns="20081" rIns="0" bIns="0" rtlCol="0">
            <a:spAutoFit/>
          </a:bodyPr>
          <a:lstStyle/>
          <a:p>
            <a:pPr marL="19050">
              <a:spcBef>
                <a:spcPts val="160"/>
              </a:spcBef>
            </a:pPr>
            <a:r>
              <a:rPr lang="en-US" sz="4000" b="1" i="1" dirty="0">
                <a:solidFill>
                  <a:schemeClr val="bg1"/>
                </a:solidFill>
                <a:latin typeface="Calibri" panose="020F0502020204030204" charset="0"/>
                <a:ea typeface="Cascadia Code SemiBold" panose="020B0609020000020004" pitchFamily="49" charset="0"/>
                <a:cs typeface="Calibri" panose="020F0502020204030204" charset="0"/>
              </a:rPr>
              <a:t>Introduction</a:t>
            </a:r>
            <a:endParaRPr lang="en-US" sz="4000" b="1" i="1" spc="8" dirty="0">
              <a:solidFill>
                <a:schemeClr val="bg1"/>
              </a:solidFill>
              <a:latin typeface="Calibri" panose="020F0502020204030204" charset="0"/>
              <a:ea typeface="Cascadia Code SemiBold" panose="020B0609020000020004" pitchFamily="49" charset="0"/>
              <a:cs typeface="Calibri" panose="020F0502020204030204" charset="0"/>
            </a:endParaRPr>
          </a:p>
        </p:txBody>
      </p:sp>
      <p:sp>
        <p:nvSpPr>
          <p:cNvPr id="13" name="文本框 12"/>
          <p:cNvSpPr txBox="1"/>
          <p:nvPr/>
        </p:nvSpPr>
        <p:spPr>
          <a:xfrm>
            <a:off x="6562725" y="1584325"/>
            <a:ext cx="14699615" cy="1026160"/>
          </a:xfrm>
          <a:prstGeom prst="rect">
            <a:avLst/>
          </a:prstGeom>
          <a:noFill/>
        </p:spPr>
        <p:txBody>
          <a:bodyPr wrap="square" rtlCol="0">
            <a:noAutofit/>
          </a:bodyPr>
          <a:lstStyle/>
          <a:p>
            <a:r>
              <a:rPr lang="zh-CN" altLang="en-US" sz="2800" b="1" i="1" dirty="0">
                <a:solidFill>
                  <a:schemeClr val="bg1"/>
                </a:solidFill>
                <a:cs typeface="+mn-lt"/>
                <a:sym typeface="+mn-ea"/>
              </a:rPr>
              <a:t>Supervisor: Chunchuan  Lyu</a:t>
            </a:r>
            <a:endParaRPr lang="en-US" altLang="zh-CN" sz="2800" b="1" i="1" dirty="0">
              <a:solidFill>
                <a:schemeClr val="bg1"/>
              </a:solidFill>
              <a:cs typeface="+mn-lt"/>
              <a:sym typeface="+mn-ea"/>
            </a:endParaRPr>
          </a:p>
          <a:p>
            <a:r>
              <a:rPr lang="en-US" altLang="zh-CN" sz="2800" b="1" i="1" dirty="0">
                <a:solidFill>
                  <a:schemeClr val="bg1"/>
                </a:solidFill>
                <a:cs typeface="+mn-lt"/>
                <a:sym typeface="+mn-ea"/>
              </a:rPr>
              <a:t>Students: </a:t>
            </a:r>
            <a:r>
              <a:rPr lang="en-US" altLang="zh-CN" sz="2800" b="1" i="1" dirty="0" err="1">
                <a:solidFill>
                  <a:schemeClr val="bg1"/>
                </a:solidFill>
                <a:cs typeface="+mn-lt"/>
                <a:sym typeface="+mn-ea"/>
              </a:rPr>
              <a:t>Chengyang</a:t>
            </a:r>
            <a:r>
              <a:rPr lang="en-US" altLang="zh-CN" sz="2800" b="1" i="1" dirty="0">
                <a:solidFill>
                  <a:schemeClr val="bg1"/>
                </a:solidFill>
                <a:cs typeface="+mn-lt"/>
                <a:sym typeface="+mn-ea"/>
              </a:rPr>
              <a:t> Du ,  Xu Chen</a:t>
            </a:r>
            <a:r>
              <a:rPr lang="en-US" altLang="zh-CN" sz="2800" b="1" i="1" dirty="0">
                <a:cs typeface="+mn-lt"/>
                <a:sym typeface="+mn-ea"/>
              </a:rPr>
              <a:t> </a:t>
            </a:r>
            <a:r>
              <a:rPr lang="en-US" altLang="zh-CN" sz="2800" b="1" i="1" dirty="0">
                <a:solidFill>
                  <a:schemeClr val="bg1"/>
                </a:solidFill>
                <a:cs typeface="+mn-lt"/>
                <a:sym typeface="+mn-ea"/>
              </a:rPr>
              <a:t> ,  </a:t>
            </a:r>
            <a:r>
              <a:rPr lang="en-US" altLang="zh-CN" sz="2800" b="1" i="1" dirty="0" err="1">
                <a:solidFill>
                  <a:schemeClr val="bg1"/>
                </a:solidFill>
                <a:cs typeface="+mn-lt"/>
                <a:sym typeface="+mn-ea"/>
              </a:rPr>
              <a:t>Zirui</a:t>
            </a:r>
            <a:r>
              <a:rPr lang="en-US" altLang="zh-CN" sz="2800" b="1" i="1" dirty="0">
                <a:solidFill>
                  <a:schemeClr val="bg1"/>
                </a:solidFill>
                <a:cs typeface="+mn-lt"/>
                <a:sym typeface="+mn-ea"/>
              </a:rPr>
              <a:t> Zhu , Gong Chen , Ruobing Li , Jiutian Chang </a:t>
            </a:r>
            <a:endParaRPr lang="zh-CN" altLang="en-US" sz="2800" b="1" i="1" dirty="0">
              <a:solidFill>
                <a:schemeClr val="tx1"/>
              </a:solidFill>
              <a:cs typeface="+mn-lt"/>
            </a:endParaRPr>
          </a:p>
          <a:p>
            <a:endParaRPr lang="zh-CN" altLang="en-US" sz="2800" b="1" i="1" dirty="0">
              <a:solidFill>
                <a:schemeClr val="tx1"/>
              </a:solidFill>
              <a:cs typeface="+mn-lt"/>
            </a:endParaRPr>
          </a:p>
        </p:txBody>
      </p:sp>
      <p:sp>
        <p:nvSpPr>
          <p:cNvPr id="21" name="文本框 20"/>
          <p:cNvSpPr txBox="1"/>
          <p:nvPr/>
        </p:nvSpPr>
        <p:spPr>
          <a:xfrm>
            <a:off x="323691" y="1190741"/>
            <a:ext cx="4803775" cy="368300"/>
          </a:xfrm>
          <a:prstGeom prst="rect">
            <a:avLst/>
          </a:prstGeom>
          <a:noFill/>
        </p:spPr>
        <p:txBody>
          <a:bodyPr wrap="square" rtlCol="0">
            <a:spAutoFit/>
          </a:bodyPr>
          <a:lstStyle/>
          <a:p>
            <a:r>
              <a:rPr lang="zh-CN" altLang="en-US" b="1" i="1" dirty="0">
                <a:cs typeface="+mn-lt"/>
                <a:sym typeface="+mn-ea"/>
              </a:rPr>
              <a:t>SURF-2024-0183</a:t>
            </a:r>
            <a:endParaRPr lang="zh-CN" altLang="en-US"/>
          </a:p>
        </p:txBody>
      </p:sp>
      <p:sp>
        <p:nvSpPr>
          <p:cNvPr id="29" name="object 7"/>
          <p:cNvSpPr txBox="1"/>
          <p:nvPr/>
        </p:nvSpPr>
        <p:spPr>
          <a:xfrm>
            <a:off x="287020" y="6059603"/>
            <a:ext cx="8189595" cy="7966075"/>
          </a:xfrm>
          <a:prstGeom prst="rect">
            <a:avLst/>
          </a:prstGeom>
          <a:solidFill>
            <a:schemeClr val="bg1"/>
          </a:solidFill>
        </p:spPr>
        <p:txBody>
          <a:bodyPr vert="horz" wrap="square" lIns="0" tIns="21992" rIns="0" bIns="0" rtlCol="0">
            <a:noAutofit/>
          </a:bodyPr>
          <a:lstStyle/>
          <a:p>
            <a:pPr marL="19050" marR="7620">
              <a:lnSpc>
                <a:spcPct val="101000"/>
              </a:lnSpc>
              <a:spcBef>
                <a:spcPts val="170"/>
              </a:spcBef>
            </a:pPr>
            <a:r>
              <a:rPr lang="en-US" altLang="zh-CN" sz="2800" i="1" dirty="0">
                <a:solidFill>
                  <a:srgbClr val="303030"/>
                </a:solidFill>
                <a:cs typeface="+mn-lt"/>
                <a:sym typeface="+mn-ea"/>
              </a:rPr>
              <a:t>We investigate the effectiveness of unsupervised exploration by comparing its performances under different settings. During the unsupervised exploration phase, agents explore the environment without task-specific rewards (no red ball), gathering trajectories for future offline learning. In the offline learning phase, agents learned from these trajectories with post-added rewards.</a:t>
            </a:r>
            <a:endParaRPr lang="en-US" altLang="zh-CN" sz="2800" i="1" dirty="0">
              <a:solidFill>
                <a:srgbClr val="303030"/>
              </a:solidFill>
              <a:cs typeface="+mn-lt"/>
              <a:sym typeface="+mn-ea"/>
            </a:endParaRPr>
          </a:p>
          <a:p>
            <a:pPr marL="19050" marR="7620">
              <a:lnSpc>
                <a:spcPct val="101000"/>
              </a:lnSpc>
              <a:spcBef>
                <a:spcPts val="170"/>
              </a:spcBef>
            </a:pPr>
            <a:endParaRPr lang="en-US" altLang="zh-CN" sz="2800" i="1" dirty="0">
              <a:solidFill>
                <a:srgbClr val="303030"/>
              </a:solidFill>
              <a:cs typeface="+mn-lt"/>
              <a:sym typeface="+mn-ea"/>
            </a:endParaRPr>
          </a:p>
          <a:p>
            <a:pPr marL="19050" marR="7620">
              <a:lnSpc>
                <a:spcPct val="101000"/>
              </a:lnSpc>
              <a:spcBef>
                <a:spcPts val="170"/>
              </a:spcBef>
            </a:pPr>
            <a:r>
              <a:rPr lang="en-US" altLang="zh-CN" sz="2800" i="1" dirty="0">
                <a:solidFill>
                  <a:srgbClr val="303030"/>
                </a:solidFill>
                <a:cs typeface="+mn-lt"/>
                <a:sym typeface="+mn-ea"/>
              </a:rPr>
              <a:t>Three exploration strategies are investigated: Pure random exploration, Random Network Distillation (RND), and Proximal Policy Optimization (PPO). RND is employed to encourage visiting novel states while avoiding revisiting. PPO is used to set an upper bound on the effectiveness of unsupervised exploration. Implicit Q-Learning (IQL) and Hindsight Experience Replay (HER) are used for offline learning.</a:t>
            </a:r>
            <a:endParaRPr lang="en-US" altLang="zh-CN" sz="2800" i="1" dirty="0">
              <a:solidFill>
                <a:srgbClr val="303030"/>
              </a:solidFill>
              <a:cs typeface="+mn-lt"/>
              <a:sym typeface="+mn-ea"/>
            </a:endParaRPr>
          </a:p>
        </p:txBody>
      </p:sp>
      <p:pic>
        <p:nvPicPr>
          <p:cNvPr id="2" name="图片 1" descr="微信截图_20240826205212"/>
          <p:cNvPicPr>
            <a:picLocks noChangeAspect="1"/>
          </p:cNvPicPr>
          <p:nvPr/>
        </p:nvPicPr>
        <p:blipFill>
          <a:blip r:embed="rId2"/>
          <a:srcRect l="3987" t="6515" r="5414" b="9907"/>
          <a:stretch>
            <a:fillRect/>
          </a:stretch>
        </p:blipFill>
        <p:spPr>
          <a:xfrm>
            <a:off x="15504160" y="5411896"/>
            <a:ext cx="5325110" cy="4054475"/>
          </a:xfrm>
          <a:prstGeom prst="rect">
            <a:avLst/>
          </a:prstGeom>
        </p:spPr>
      </p:pic>
      <p:sp>
        <p:nvSpPr>
          <p:cNvPr id="4" name="object 65"/>
          <p:cNvSpPr txBox="1"/>
          <p:nvPr/>
        </p:nvSpPr>
        <p:spPr>
          <a:xfrm>
            <a:off x="8753792" y="10843894"/>
            <a:ext cx="6130290" cy="635000"/>
          </a:xfrm>
          <a:prstGeom prst="rect">
            <a:avLst/>
          </a:prstGeom>
        </p:spPr>
        <p:txBody>
          <a:bodyPr vert="horz" wrap="square" lIns="0" tIns="20081" rIns="0" bIns="0" rtlCol="0">
            <a:spAutoFit/>
          </a:bodyPr>
          <a:lstStyle/>
          <a:p>
            <a:pPr marL="19050">
              <a:spcBef>
                <a:spcPts val="160"/>
              </a:spcBef>
            </a:pPr>
            <a:r>
              <a:rPr lang="en-US" sz="4000" b="1" i="1" spc="8" dirty="0">
                <a:solidFill>
                  <a:schemeClr val="bg1"/>
                </a:solidFill>
                <a:latin typeface="Calibri" panose="020F0502020204030204" charset="0"/>
                <a:ea typeface="Cascadia Code SemiBold" panose="020B0609020000020004" pitchFamily="49" charset="0"/>
                <a:cs typeface="Calibri" panose="020F0502020204030204" charset="0"/>
                <a:sym typeface="+mn-ea"/>
              </a:rPr>
              <a:t>Methods and </a:t>
            </a:r>
            <a:r>
              <a:rPr lang="en-US" sz="4000" b="1" i="1" dirty="0">
                <a:solidFill>
                  <a:schemeClr val="bg1"/>
                </a:solidFill>
                <a:latin typeface="Calibri" panose="020F0502020204030204" charset="0"/>
                <a:ea typeface="Cascadia Code SemiBold" panose="020B0609020000020004" pitchFamily="49" charset="0"/>
                <a:cs typeface="Calibri" panose="020F0502020204030204" charset="0"/>
              </a:rPr>
              <a:t>Experimets</a:t>
            </a:r>
            <a:endParaRPr lang="en-US" sz="4000" b="1" i="1" dirty="0">
              <a:solidFill>
                <a:schemeClr val="bg1"/>
              </a:solidFill>
              <a:latin typeface="Calibri" panose="020F0502020204030204" charset="0"/>
              <a:ea typeface="Cascadia Code SemiBold" panose="020B0609020000020004" pitchFamily="49" charset="0"/>
              <a:cs typeface="Calibri" panose="020F0502020204030204" charset="0"/>
            </a:endParaRPr>
          </a:p>
        </p:txBody>
      </p:sp>
      <p:sp>
        <p:nvSpPr>
          <p:cNvPr id="8" name="object 7"/>
          <p:cNvSpPr txBox="1"/>
          <p:nvPr/>
        </p:nvSpPr>
        <p:spPr>
          <a:xfrm>
            <a:off x="8735060" y="26846531"/>
            <a:ext cx="12362180" cy="3305492"/>
          </a:xfrm>
          <a:prstGeom prst="rect">
            <a:avLst/>
          </a:prstGeom>
          <a:solidFill>
            <a:schemeClr val="bg1"/>
          </a:solidFill>
        </p:spPr>
        <p:txBody>
          <a:bodyPr vert="horz" wrap="square" lIns="0" tIns="21992" rIns="0" bIns="0" rtlCol="0">
            <a:noAutofit/>
          </a:bodyPr>
          <a:lstStyle/>
          <a:p>
            <a:pPr marL="19050" marR="7620" indent="0">
              <a:lnSpc>
                <a:spcPct val="101000"/>
              </a:lnSpc>
              <a:spcBef>
                <a:spcPts val="170"/>
              </a:spcBef>
              <a:buFont typeface="Arial" panose="020B0604020202020204" pitchFamily="34" charset="0"/>
              <a:buNone/>
            </a:pPr>
            <a:r>
              <a:rPr lang="en-US" sz="2800" i="1" dirty="0">
                <a:solidFill>
                  <a:srgbClr val="303030"/>
                </a:solidFill>
                <a:cs typeface="+mn-lt"/>
                <a:sym typeface="+mn-ea"/>
              </a:rPr>
              <a:t>Overall, we have shown offline learning are very effective. However, we have not achieved significant gains over random exploration. This could be caused by our choice of too simplified environment or by our lack of hyperparameter tuning. In addition, we could explore the low data region in more depth.</a:t>
            </a:r>
            <a:endParaRPr lang="en-US" sz="2800" i="1" dirty="0">
              <a:solidFill>
                <a:srgbClr val="303030"/>
              </a:solidFill>
              <a:cs typeface="+mn-lt"/>
              <a:sym typeface="+mn-ea"/>
            </a:endParaRPr>
          </a:p>
          <a:p>
            <a:pPr marL="19050" marR="7620" indent="0">
              <a:lnSpc>
                <a:spcPct val="101000"/>
              </a:lnSpc>
              <a:spcBef>
                <a:spcPts val="170"/>
              </a:spcBef>
              <a:buFont typeface="Arial" panose="020B0604020202020204" pitchFamily="34" charset="0"/>
              <a:buNone/>
            </a:pPr>
            <a:endParaRPr lang="en-US" sz="2800" i="1" dirty="0">
              <a:solidFill>
                <a:srgbClr val="303030"/>
              </a:solidFill>
              <a:cs typeface="+mn-lt"/>
              <a:sym typeface="+mn-ea"/>
            </a:endParaRPr>
          </a:p>
          <a:p>
            <a:pPr marL="19050" marR="7620" indent="0">
              <a:lnSpc>
                <a:spcPct val="101000"/>
              </a:lnSpc>
              <a:spcBef>
                <a:spcPts val="170"/>
              </a:spcBef>
              <a:buFont typeface="Arial" panose="020B0604020202020204" pitchFamily="34" charset="0"/>
              <a:buNone/>
            </a:pPr>
            <a:r>
              <a:rPr lang="en-US" sz="2800" i="1" dirty="0">
                <a:solidFill>
                  <a:srgbClr val="303030"/>
                </a:solidFill>
                <a:cs typeface="+mn-lt"/>
                <a:sym typeface="+mn-ea"/>
              </a:rPr>
              <a:t>In the future, we aim to devise novel algorithms for unsupervised exploration and evaluate them in broader settings. </a:t>
            </a:r>
            <a:endParaRPr lang="en-US" sz="2800" i="1" dirty="0">
              <a:solidFill>
                <a:srgbClr val="303030"/>
              </a:solidFill>
              <a:cs typeface="+mn-lt"/>
              <a:sym typeface="+mn-ea"/>
            </a:endParaRPr>
          </a:p>
        </p:txBody>
      </p:sp>
      <p:sp>
        <p:nvSpPr>
          <p:cNvPr id="11" name="TextBox 10"/>
          <p:cNvSpPr txBox="1"/>
          <p:nvPr/>
        </p:nvSpPr>
        <p:spPr>
          <a:xfrm>
            <a:off x="15503525" y="9670206"/>
            <a:ext cx="5324475" cy="953135"/>
          </a:xfrm>
          <a:prstGeom prst="rect">
            <a:avLst/>
          </a:prstGeom>
          <a:noFill/>
        </p:spPr>
        <p:txBody>
          <a:bodyPr wrap="square" rtlCol="0">
            <a:spAutoFit/>
          </a:bodyPr>
          <a:lstStyle/>
          <a:p>
            <a:pPr algn="ctr"/>
            <a:r>
              <a:rPr lang="en-US" sz="2800" i="1" dirty="0">
                <a:solidFill>
                  <a:schemeClr val="bg1"/>
                </a:solidFill>
              </a:rPr>
              <a:t>Supervised task:  green point try catch red ball</a:t>
            </a:r>
            <a:endParaRPr lang="en-US" sz="2800" i="1" dirty="0">
              <a:solidFill>
                <a:schemeClr val="bg1"/>
              </a:solidFill>
            </a:endParaRPr>
          </a:p>
        </p:txBody>
      </p:sp>
      <p:sp>
        <p:nvSpPr>
          <p:cNvPr id="31" name="TextBox 30"/>
          <p:cNvSpPr txBox="1"/>
          <p:nvPr/>
        </p:nvSpPr>
        <p:spPr>
          <a:xfrm>
            <a:off x="8476615" y="9609246"/>
            <a:ext cx="7150100" cy="953135"/>
          </a:xfrm>
          <a:prstGeom prst="rect">
            <a:avLst/>
          </a:prstGeom>
          <a:noFill/>
        </p:spPr>
        <p:txBody>
          <a:bodyPr wrap="square" rtlCol="0">
            <a:spAutoFit/>
          </a:bodyPr>
          <a:lstStyle/>
          <a:p>
            <a:pPr algn="ctr"/>
            <a:r>
              <a:rPr lang="en-US" sz="2800" i="1" dirty="0">
                <a:solidFill>
                  <a:schemeClr val="bg1"/>
                </a:solidFill>
              </a:rPr>
              <a:t>Unsupervised Exploration:  green point explore the environment without knowing the goal</a:t>
            </a:r>
            <a:endParaRPr lang="en-US" sz="2800" i="1" dirty="0">
              <a:solidFill>
                <a:schemeClr val="bg1"/>
              </a:solidFill>
            </a:endParaRPr>
          </a:p>
        </p:txBody>
      </p:sp>
      <p:sp>
        <p:nvSpPr>
          <p:cNvPr id="34" name="object 7"/>
          <p:cNvSpPr txBox="1"/>
          <p:nvPr/>
        </p:nvSpPr>
        <p:spPr>
          <a:xfrm>
            <a:off x="242252" y="26389012"/>
            <a:ext cx="8190865" cy="3763010"/>
          </a:xfrm>
          <a:prstGeom prst="rect">
            <a:avLst/>
          </a:prstGeom>
          <a:solidFill>
            <a:schemeClr val="bg1"/>
          </a:solidFill>
        </p:spPr>
        <p:txBody>
          <a:bodyPr vert="horz" wrap="square" lIns="0" tIns="21992" rIns="0" bIns="0" rtlCol="0">
            <a:noAutofit/>
          </a:bodyPr>
          <a:lstStyle/>
          <a:p>
            <a:pPr marL="19050" marR="7620">
              <a:lnSpc>
                <a:spcPct val="101000"/>
              </a:lnSpc>
              <a:spcBef>
                <a:spcPts val="170"/>
              </a:spcBef>
            </a:pPr>
            <a:r>
              <a:rPr lang="en-US" sz="2000" i="1" dirty="0">
                <a:solidFill>
                  <a:srgbClr val="303030"/>
                </a:solidFill>
                <a:cs typeface="+mn-lt"/>
                <a:sym typeface="+mn-ea"/>
              </a:rPr>
              <a:t>[1 ] Andrychowicz, M., Wolski, F., Ray, A., Schneider, J., Fong, R., Welinder, P., ... &amp; Zaremba, W. (2017). Hindsight experience replay. Advances in neural information processing systems, 30.</a:t>
            </a:r>
            <a:endParaRPr lang="en-US" sz="2000" i="1" dirty="0">
              <a:solidFill>
                <a:srgbClr val="303030"/>
              </a:solidFill>
              <a:cs typeface="+mn-lt"/>
              <a:sym typeface="+mn-ea"/>
            </a:endParaRPr>
          </a:p>
          <a:p>
            <a:pPr marL="19050" marR="7620">
              <a:lnSpc>
                <a:spcPct val="101000"/>
              </a:lnSpc>
              <a:spcBef>
                <a:spcPts val="170"/>
              </a:spcBef>
            </a:pPr>
            <a:r>
              <a:rPr lang="en-US" sz="2000" i="1" dirty="0">
                <a:solidFill>
                  <a:srgbClr val="303030"/>
                </a:solidFill>
                <a:cs typeface="+mn-lt"/>
                <a:sym typeface="+mn-ea"/>
              </a:rPr>
              <a:t>[2 ] Burda, Y., Edwards, H., Storkey, A., &amp; Klimov, O. (2018). Exploration by random network distillation. arXiv preprint arXiv:1810.12894.</a:t>
            </a:r>
            <a:endParaRPr lang="en-US" sz="2000" i="1" dirty="0">
              <a:solidFill>
                <a:srgbClr val="303030"/>
              </a:solidFill>
              <a:cs typeface="+mn-lt"/>
              <a:sym typeface="+mn-ea"/>
            </a:endParaRPr>
          </a:p>
          <a:p>
            <a:pPr marL="19050" marR="7620">
              <a:lnSpc>
                <a:spcPct val="101000"/>
              </a:lnSpc>
              <a:spcBef>
                <a:spcPts val="170"/>
              </a:spcBef>
            </a:pPr>
            <a:r>
              <a:rPr lang="en-US" sz="2000" i="1" dirty="0">
                <a:solidFill>
                  <a:srgbClr val="303030"/>
                </a:solidFill>
                <a:cs typeface="+mn-lt"/>
                <a:sym typeface="+mn-ea"/>
              </a:rPr>
              <a:t>[3 ] Schulman, J., Wolski, F., Dhariwal, P., Radford, A., &amp; Klimov, O. (2017). Proximal policy optimization algorithms. arXiv preprint arXiv:1707.06347.</a:t>
            </a:r>
            <a:endParaRPr lang="en-US" sz="2000" i="1" dirty="0">
              <a:solidFill>
                <a:srgbClr val="303030"/>
              </a:solidFill>
              <a:cs typeface="+mn-lt"/>
              <a:sym typeface="+mn-ea"/>
            </a:endParaRPr>
          </a:p>
          <a:p>
            <a:pPr marL="19050" marR="7620">
              <a:lnSpc>
                <a:spcPct val="101000"/>
              </a:lnSpc>
              <a:spcBef>
                <a:spcPts val="170"/>
              </a:spcBef>
            </a:pPr>
            <a:r>
              <a:rPr lang="en-US" sz="2000" i="1" dirty="0">
                <a:solidFill>
                  <a:srgbClr val="303030"/>
                </a:solidFill>
                <a:cs typeface="+mn-lt"/>
                <a:sym typeface="+mn-ea"/>
              </a:rPr>
              <a:t>[4 ] Kostrikov, I., Nair, A., &amp; Levine, S. (2021). Offline reinforcement learning with implicit q-learning. arXiv preprint arXiv:2110.06169.</a:t>
            </a:r>
            <a:endParaRPr lang="en-US" sz="2000" i="1" dirty="0">
              <a:solidFill>
                <a:srgbClr val="303030"/>
              </a:solidFill>
              <a:cs typeface="+mn-lt"/>
              <a:sym typeface="+mn-ea"/>
            </a:endParaRPr>
          </a:p>
          <a:p>
            <a:pPr marL="19050" marR="7620">
              <a:lnSpc>
                <a:spcPct val="101000"/>
              </a:lnSpc>
              <a:spcBef>
                <a:spcPts val="170"/>
              </a:spcBef>
            </a:pPr>
            <a:r>
              <a:rPr lang="en-US" sz="2000" i="1" dirty="0">
                <a:solidFill>
                  <a:srgbClr val="303030"/>
                </a:solidFill>
                <a:cs typeface="+mn-lt"/>
                <a:sym typeface="+mn-ea"/>
              </a:rPr>
              <a:t>[5 ] Laskin, M., Yarats, D., Liu, H., Lee, K., Zhan, A., Lu, K., ... &amp; Abbeel, P. (2021). Urlb: Unsupervised reinforcement learning benchmark. arXiv preprint arXiv:2110.15191.</a:t>
            </a:r>
            <a:endParaRPr lang="en-US" sz="2000" i="1" dirty="0">
              <a:solidFill>
                <a:srgbClr val="303030"/>
              </a:solidFill>
              <a:cs typeface="+mn-lt"/>
              <a:sym typeface="+mn-ea"/>
            </a:endParaRPr>
          </a:p>
        </p:txBody>
      </p:sp>
      <p:sp>
        <p:nvSpPr>
          <p:cNvPr id="39" name="object 7"/>
          <p:cNvSpPr txBox="1"/>
          <p:nvPr/>
        </p:nvSpPr>
        <p:spPr>
          <a:xfrm>
            <a:off x="8745220" y="11732895"/>
            <a:ext cx="12362180" cy="5208905"/>
          </a:xfrm>
          <a:prstGeom prst="rect">
            <a:avLst/>
          </a:prstGeom>
          <a:solidFill>
            <a:schemeClr val="bg1"/>
          </a:solidFill>
        </p:spPr>
        <p:txBody>
          <a:bodyPr vert="horz" wrap="square" lIns="0" tIns="21992" rIns="0" bIns="0" rtlCol="0">
            <a:noAutofit/>
          </a:bodyPr>
          <a:lstStyle/>
          <a:p>
            <a:pPr marL="19050" marR="7620">
              <a:lnSpc>
                <a:spcPct val="101000"/>
              </a:lnSpc>
              <a:spcBef>
                <a:spcPts val="170"/>
              </a:spcBef>
            </a:pPr>
            <a:r>
              <a:rPr lang="en-US" sz="2800" i="1" dirty="0">
                <a:solidFill>
                  <a:srgbClr val="303030"/>
                </a:solidFill>
                <a:cs typeface="+mn-lt"/>
                <a:sym typeface="+mn-ea"/>
              </a:rPr>
              <a:t>When using HER, we adjust the original trajectory with different goals. We designed two goal modes: one with k=0, where the agent is only informed of its </a:t>
            </a:r>
            <a:r>
              <a:rPr lang="en-US" altLang="zh-CN" sz="2800" i="1" dirty="0">
                <a:solidFill>
                  <a:srgbClr val="303030"/>
                </a:solidFill>
                <a:cs typeface="+mn-lt"/>
                <a:sym typeface="+mn-ea"/>
              </a:rPr>
              <a:t>sampled</a:t>
            </a:r>
            <a:r>
              <a:rPr lang="en-US" sz="2800" i="1" dirty="0">
                <a:solidFill>
                  <a:srgbClr val="303030"/>
                </a:solidFill>
                <a:cs typeface="+mn-lt"/>
                <a:sym typeface="+mn-ea"/>
              </a:rPr>
              <a:t> goal, and another with k=16, where next 16 states serve as </a:t>
            </a:r>
            <a:r>
              <a:rPr lang="en-US" altLang="zh-CN" sz="2800" i="1" dirty="0">
                <a:solidFill>
                  <a:srgbClr val="303030"/>
                </a:solidFill>
                <a:cs typeface="+mn-lt"/>
                <a:sym typeface="+mn-ea"/>
              </a:rPr>
              <a:t>achieved</a:t>
            </a:r>
            <a:r>
              <a:rPr lang="en-US" sz="2800" i="1" dirty="0">
                <a:solidFill>
                  <a:srgbClr val="303030"/>
                </a:solidFill>
                <a:cs typeface="+mn-lt"/>
                <a:sym typeface="+mn-ea"/>
              </a:rPr>
              <a:t> goals. We also experimented with different total timesteps during the exploration phase: 1000 steps, 5000 steps, and 20000 steps. </a:t>
            </a: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r>
              <a:rPr lang="en-US" sz="2800" i="1" dirty="0">
                <a:solidFill>
                  <a:srgbClr val="303030"/>
                </a:solidFill>
                <a:cs typeface="+mn-lt"/>
                <a:sym typeface="+mn-ea"/>
              </a:rPr>
              <a:t>For the exploration agents, at the 20,000-step, the random agent achieved an average reward of 0.19, while the RND agent achieved an average reward of 0.23. The PPO agent achieved an average reward of 0.38. As an upper bound, the PPO agent could achieve a score of 0.62 after 100,000 timesteps of training.</a:t>
            </a: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a:p>
            <a:pPr marL="19050" marR="7620" indent="0">
              <a:lnSpc>
                <a:spcPct val="101000"/>
              </a:lnSpc>
              <a:spcBef>
                <a:spcPts val="170"/>
              </a:spcBef>
              <a:buFont typeface="Arial" panose="020B0604020202020204" pitchFamily="34" charset="0"/>
              <a:buNone/>
            </a:pPr>
            <a:endParaRPr lang="en-US" sz="22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endParaRPr lang="en-US" sz="2200" i="1" dirty="0">
              <a:solidFill>
                <a:srgbClr val="303030"/>
              </a:solidFill>
              <a:cs typeface="+mn-lt"/>
              <a:sym typeface="+mn-ea"/>
            </a:endParaRPr>
          </a:p>
        </p:txBody>
      </p:sp>
      <p:sp>
        <p:nvSpPr>
          <p:cNvPr id="7" name="object 65"/>
          <p:cNvSpPr txBox="1"/>
          <p:nvPr/>
        </p:nvSpPr>
        <p:spPr>
          <a:xfrm>
            <a:off x="8745220" y="26069925"/>
            <a:ext cx="7629525" cy="640715"/>
          </a:xfrm>
          <a:prstGeom prst="rect">
            <a:avLst/>
          </a:prstGeom>
        </p:spPr>
        <p:txBody>
          <a:bodyPr vert="horz" wrap="square" lIns="0" tIns="20081" rIns="0" bIns="0" rtlCol="0">
            <a:spAutoFit/>
          </a:bodyPr>
          <a:lstStyle/>
          <a:p>
            <a:pPr marL="19050" marR="7620">
              <a:lnSpc>
                <a:spcPct val="101000"/>
              </a:lnSpc>
              <a:spcBef>
                <a:spcPts val="170"/>
              </a:spcBef>
            </a:pPr>
            <a:r>
              <a:rPr lang="en-US" sz="4000" b="1" i="1" dirty="0">
                <a:solidFill>
                  <a:schemeClr val="bg1"/>
                </a:solidFill>
                <a:cs typeface="+mn-lt"/>
                <a:sym typeface="+mn-ea"/>
              </a:rPr>
              <a:t>Conclusions and Future Works</a:t>
            </a:r>
            <a:endParaRPr lang="en-US" sz="4000" b="1" i="1" spc="8" dirty="0">
              <a:solidFill>
                <a:schemeClr val="bg1"/>
              </a:solidFill>
              <a:latin typeface="Calibri" panose="020F0502020204030204" charset="0"/>
              <a:ea typeface="Cascadia Code SemiBold" panose="020B0609020000020004" pitchFamily="49" charset="0"/>
              <a:cs typeface="+mn-lt"/>
              <a:sym typeface="+mn-ea"/>
            </a:endParaRPr>
          </a:p>
        </p:txBody>
      </p:sp>
      <p:sp>
        <p:nvSpPr>
          <p:cNvPr id="10" name="object 65"/>
          <p:cNvSpPr txBox="1"/>
          <p:nvPr/>
        </p:nvSpPr>
        <p:spPr>
          <a:xfrm>
            <a:off x="261937" y="25640980"/>
            <a:ext cx="4804410" cy="640715"/>
          </a:xfrm>
          <a:prstGeom prst="rect">
            <a:avLst/>
          </a:prstGeom>
        </p:spPr>
        <p:txBody>
          <a:bodyPr vert="horz" wrap="square" lIns="0" tIns="20081" rIns="0" bIns="0" rtlCol="0">
            <a:spAutoFit/>
          </a:bodyPr>
          <a:lstStyle/>
          <a:p>
            <a:pPr marL="19050" marR="7620">
              <a:lnSpc>
                <a:spcPct val="101000"/>
              </a:lnSpc>
              <a:spcBef>
                <a:spcPts val="170"/>
              </a:spcBef>
            </a:pPr>
            <a:r>
              <a:rPr lang="en-US" sz="4000" b="1" i="1" dirty="0">
                <a:solidFill>
                  <a:schemeClr val="bg1"/>
                </a:solidFill>
                <a:cs typeface="+mn-lt"/>
                <a:sym typeface="+mn-ea"/>
              </a:rPr>
              <a:t>Reference</a:t>
            </a:r>
            <a:endParaRPr lang="en-US" sz="4000" b="1" i="1" spc="8" dirty="0">
              <a:solidFill>
                <a:schemeClr val="bg1"/>
              </a:solidFill>
              <a:latin typeface="Calibri" panose="020F0502020204030204" charset="0"/>
              <a:ea typeface="Cascadia Code SemiBold" panose="020B0609020000020004" pitchFamily="49" charset="0"/>
              <a:cs typeface="+mn-lt"/>
              <a:sym typeface="+mn-ea"/>
            </a:endParaRPr>
          </a:p>
        </p:txBody>
      </p:sp>
      <p:pic>
        <p:nvPicPr>
          <p:cNvPr id="14" name="图片 13" descr="1724749019793"/>
          <p:cNvPicPr>
            <a:picLocks noChangeAspect="1"/>
          </p:cNvPicPr>
          <p:nvPr/>
        </p:nvPicPr>
        <p:blipFill>
          <a:blip r:embed="rId3"/>
          <a:srcRect l="15429" t="8923" r="12661"/>
          <a:stretch>
            <a:fillRect/>
          </a:stretch>
        </p:blipFill>
        <p:spPr>
          <a:xfrm>
            <a:off x="323691" y="23360696"/>
            <a:ext cx="3956685" cy="2178685"/>
          </a:xfrm>
          <a:prstGeom prst="rect">
            <a:avLst/>
          </a:prstGeom>
        </p:spPr>
      </p:pic>
      <p:sp>
        <p:nvSpPr>
          <p:cNvPr id="18" name="TextBox 30"/>
          <p:cNvSpPr txBox="1"/>
          <p:nvPr/>
        </p:nvSpPr>
        <p:spPr>
          <a:xfrm>
            <a:off x="4616291" y="23294021"/>
            <a:ext cx="3651885" cy="2196465"/>
          </a:xfrm>
          <a:prstGeom prst="rect">
            <a:avLst/>
          </a:prstGeom>
          <a:noFill/>
        </p:spPr>
        <p:txBody>
          <a:bodyPr wrap="square" rtlCol="0">
            <a:noAutofit/>
          </a:bodyPr>
          <a:lstStyle/>
          <a:p>
            <a:pPr marL="19050" marR="7620" indent="0" algn="ctr">
              <a:lnSpc>
                <a:spcPct val="101000"/>
              </a:lnSpc>
              <a:spcBef>
                <a:spcPts val="170"/>
              </a:spcBef>
              <a:buFont typeface="Arial" panose="020B0604020202020204" pitchFamily="34" charset="0"/>
              <a:buNone/>
            </a:pPr>
            <a:r>
              <a:rPr lang="en-US" sz="2400" i="1" dirty="0">
                <a:solidFill>
                  <a:schemeClr val="bg1"/>
                </a:solidFill>
                <a:cs typeface="+mn-lt"/>
                <a:sym typeface="+mn-ea"/>
              </a:rPr>
              <a:t>In offline reinforcement learning, the strategy is optimized on the existing data trajectory to find a more efficient path to reach the target state</a:t>
            </a:r>
            <a:endParaRPr lang="en-US" sz="2400" i="1" dirty="0">
              <a:solidFill>
                <a:schemeClr val="bg1"/>
              </a:solidFill>
              <a:cs typeface="+mn-lt"/>
              <a:sym typeface="+mn-ea"/>
            </a:endParaRPr>
          </a:p>
        </p:txBody>
      </p:sp>
      <p:sp>
        <p:nvSpPr>
          <p:cNvPr id="42" name="object 7"/>
          <p:cNvSpPr txBox="1"/>
          <p:nvPr/>
        </p:nvSpPr>
        <p:spPr>
          <a:xfrm>
            <a:off x="243522" y="18154649"/>
            <a:ext cx="8189595" cy="4668520"/>
          </a:xfrm>
          <a:prstGeom prst="rect">
            <a:avLst/>
          </a:prstGeom>
          <a:solidFill>
            <a:schemeClr val="bg1"/>
          </a:solidFill>
        </p:spPr>
        <p:txBody>
          <a:bodyPr vert="horz" wrap="square" lIns="0" tIns="21992" rIns="0" bIns="0" rtlCol="0">
            <a:noAutofit/>
          </a:bodyPr>
          <a:lstStyle/>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Random network distillation</a:t>
            </a:r>
            <a:r>
              <a:rPr lang="en-US" sz="2800" i="1" dirty="0">
                <a:solidFill>
                  <a:srgbClr val="303030"/>
                </a:solidFill>
                <a:latin typeface="Calibri" panose="020F0502020204030204" charset="0"/>
                <a:cs typeface="Calibri" panose="020F0502020204030204" charset="0"/>
                <a:sym typeface="+mn-ea"/>
              </a:rPr>
              <a:t> Use exploration bonus to  encourage agent to explore novel states</a:t>
            </a: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endParaRPr lang="en-US" sz="2800" i="1" dirty="0">
              <a:solidFill>
                <a:srgbClr val="303030"/>
              </a:solidFill>
              <a:highlight>
                <a:srgbClr val="C0C0C0"/>
              </a:highlight>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Proximal policy optimization</a:t>
            </a:r>
            <a:r>
              <a:rPr lang="en-US" sz="2800" i="1" dirty="0">
                <a:solidFill>
                  <a:srgbClr val="303030"/>
                </a:solidFill>
                <a:latin typeface="Calibri" panose="020F0502020204030204" charset="0"/>
                <a:cs typeface="Calibri" panose="020F0502020204030204" charset="0"/>
                <a:sym typeface="+mn-ea"/>
              </a:rPr>
              <a:t> A highly data-efficient policy gradient method. </a:t>
            </a: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Hindsight Experience Replay </a:t>
            </a:r>
            <a:r>
              <a:rPr lang="en-US" sz="2800" i="1" dirty="0">
                <a:solidFill>
                  <a:srgbClr val="303030"/>
                </a:solidFill>
                <a:latin typeface="Calibri" panose="020F0502020204030204" charset="0"/>
                <a:cs typeface="Calibri" panose="020F0502020204030204" charset="0"/>
                <a:sym typeface="+mn-ea"/>
              </a:rPr>
              <a:t> Use future achieved goals as target goals, we </a:t>
            </a:r>
            <a:r>
              <a:rPr lang="en-US" sz="2800" i="1" dirty="0" err="1">
                <a:solidFill>
                  <a:srgbClr val="303030"/>
                </a:solidFill>
                <a:latin typeface="Calibri" panose="020F0502020204030204" charset="0"/>
                <a:cs typeface="Calibri" panose="020F0502020204030204" charset="0"/>
                <a:sym typeface="+mn-ea"/>
              </a:rPr>
              <a:t>lookforward</a:t>
            </a:r>
            <a:r>
              <a:rPr lang="en-US" sz="2800" i="1" dirty="0">
                <a:solidFill>
                  <a:srgbClr val="303030"/>
                </a:solidFill>
                <a:latin typeface="Calibri" panose="020F0502020204030204" charset="0"/>
                <a:cs typeface="Calibri" panose="020F0502020204030204" charset="0"/>
                <a:sym typeface="+mn-ea"/>
              </a:rPr>
              <a:t> 16 steps</a:t>
            </a: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Implicit Q-learning </a:t>
            </a:r>
            <a:endParaRPr lang="en-US" sz="2800" i="1" dirty="0">
              <a:solidFill>
                <a:srgbClr val="303030"/>
              </a:solidFill>
              <a:highlight>
                <a:srgbClr val="C0C0C0"/>
              </a:highlight>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latin typeface="Calibri" panose="020F0502020204030204" charset="0"/>
                <a:cs typeface="Calibri" panose="020F0502020204030204" charset="0"/>
                <a:sym typeface="+mn-ea"/>
              </a:rPr>
              <a:t>A c</a:t>
            </a:r>
            <a:r>
              <a:rPr lang="en-US" sz="2800" i="1" dirty="0" err="1">
                <a:solidFill>
                  <a:srgbClr val="303030"/>
                </a:solidFill>
                <a:latin typeface="Calibri" panose="020F0502020204030204" charset="0"/>
                <a:cs typeface="Calibri" panose="020F0502020204030204" charset="0"/>
                <a:sym typeface="+mn-ea"/>
              </a:rPr>
              <a:t>onseritive</a:t>
            </a:r>
            <a:r>
              <a:rPr lang="en-US" sz="2800" i="1" dirty="0">
                <a:solidFill>
                  <a:srgbClr val="303030"/>
                </a:solidFill>
                <a:latin typeface="Calibri" panose="020F0502020204030204" charset="0"/>
                <a:cs typeface="Calibri" panose="020F0502020204030204" charset="0"/>
                <a:sym typeface="+mn-ea"/>
              </a:rPr>
              <a:t> strategy </a:t>
            </a:r>
            <a:endParaRPr lang="en-US" sz="2800" i="1" dirty="0">
              <a:solidFill>
                <a:srgbClr val="303030"/>
              </a:solidFill>
              <a:latin typeface="Calibri" panose="020F0502020204030204" charset="0"/>
              <a:cs typeface="Calibri" panose="020F0502020204030204" charset="0"/>
              <a:sym typeface="+mn-ea"/>
            </a:endParaRPr>
          </a:p>
        </p:txBody>
      </p:sp>
      <p:sp>
        <p:nvSpPr>
          <p:cNvPr id="19" name="object 7"/>
          <p:cNvSpPr txBox="1"/>
          <p:nvPr/>
        </p:nvSpPr>
        <p:spPr>
          <a:xfrm>
            <a:off x="243522" y="18154649"/>
            <a:ext cx="8189595" cy="4668520"/>
          </a:xfrm>
          <a:prstGeom prst="rect">
            <a:avLst/>
          </a:prstGeom>
          <a:solidFill>
            <a:schemeClr val="bg1"/>
          </a:solidFill>
        </p:spPr>
        <p:txBody>
          <a:bodyPr vert="horz" wrap="square" lIns="0" tIns="21992" rIns="0" bIns="0" rtlCol="0">
            <a:noAutofit/>
          </a:bodyPr>
          <a:lstStyle/>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Random network distillation</a:t>
            </a:r>
            <a:r>
              <a:rPr lang="en-US" sz="2800" i="1" dirty="0">
                <a:solidFill>
                  <a:srgbClr val="303030"/>
                </a:solidFill>
                <a:latin typeface="Calibri" panose="020F0502020204030204" charset="0"/>
                <a:cs typeface="Calibri" panose="020F0502020204030204" charset="0"/>
                <a:sym typeface="+mn-ea"/>
              </a:rPr>
              <a:t> Use exploration bonus to  encourage agent to explore novel states</a:t>
            </a: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endParaRPr lang="en-US" sz="2800" i="1" dirty="0">
              <a:solidFill>
                <a:srgbClr val="303030"/>
              </a:solidFill>
              <a:highlight>
                <a:srgbClr val="C0C0C0"/>
              </a:highlight>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Proximal policy optimization</a:t>
            </a:r>
            <a:r>
              <a:rPr lang="en-US" sz="2800" i="1" dirty="0">
                <a:solidFill>
                  <a:srgbClr val="303030"/>
                </a:solidFill>
                <a:latin typeface="Calibri" panose="020F0502020204030204" charset="0"/>
                <a:cs typeface="Calibri" panose="020F0502020204030204" charset="0"/>
                <a:sym typeface="+mn-ea"/>
              </a:rPr>
              <a:t> A highly data-efficient policy gradient method. </a:t>
            </a: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Hindsight Experience Replay </a:t>
            </a:r>
            <a:r>
              <a:rPr lang="en-US" sz="2800" i="1" dirty="0">
                <a:solidFill>
                  <a:srgbClr val="303030"/>
                </a:solidFill>
                <a:latin typeface="Calibri" panose="020F0502020204030204" charset="0"/>
                <a:cs typeface="Calibri" panose="020F0502020204030204" charset="0"/>
                <a:sym typeface="+mn-ea"/>
              </a:rPr>
              <a:t> Use future achieved goals as target goals, we </a:t>
            </a:r>
            <a:r>
              <a:rPr lang="en-US" sz="2800" i="1" dirty="0" err="1">
                <a:solidFill>
                  <a:srgbClr val="303030"/>
                </a:solidFill>
                <a:latin typeface="Calibri" panose="020F0502020204030204" charset="0"/>
                <a:cs typeface="Calibri" panose="020F0502020204030204" charset="0"/>
                <a:sym typeface="+mn-ea"/>
              </a:rPr>
              <a:t>lookforward</a:t>
            </a:r>
            <a:r>
              <a:rPr lang="en-US" sz="2800" i="1" dirty="0">
                <a:solidFill>
                  <a:srgbClr val="303030"/>
                </a:solidFill>
                <a:latin typeface="Calibri" panose="020F0502020204030204" charset="0"/>
                <a:cs typeface="Calibri" panose="020F0502020204030204" charset="0"/>
                <a:sym typeface="+mn-ea"/>
              </a:rPr>
              <a:t> 16 steps</a:t>
            </a:r>
            <a:endParaRPr lang="en-US" sz="2800" i="1" dirty="0">
              <a:solidFill>
                <a:srgbClr val="303030"/>
              </a:solidFill>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highlight>
                  <a:srgbClr val="C0C0C0"/>
                </a:highlight>
                <a:latin typeface="Calibri" panose="020F0502020204030204" charset="0"/>
                <a:cs typeface="Calibri" panose="020F0502020204030204" charset="0"/>
                <a:sym typeface="+mn-ea"/>
              </a:rPr>
              <a:t>Implicit Q-learning </a:t>
            </a:r>
            <a:endParaRPr lang="en-US" sz="2800" i="1" dirty="0">
              <a:solidFill>
                <a:srgbClr val="303030"/>
              </a:solidFill>
              <a:highlight>
                <a:srgbClr val="C0C0C0"/>
              </a:highlight>
              <a:latin typeface="Calibri" panose="020F0502020204030204" charset="0"/>
              <a:cs typeface="Calibri" panose="020F0502020204030204" charset="0"/>
              <a:sym typeface="+mn-ea"/>
            </a:endParaRPr>
          </a:p>
          <a:p>
            <a:pPr marL="19050" marR="7620">
              <a:lnSpc>
                <a:spcPct val="101000"/>
              </a:lnSpc>
              <a:spcBef>
                <a:spcPts val="170"/>
              </a:spcBef>
            </a:pPr>
            <a:r>
              <a:rPr lang="en-US" sz="2800" i="1" dirty="0">
                <a:solidFill>
                  <a:srgbClr val="303030"/>
                </a:solidFill>
                <a:latin typeface="Calibri" panose="020F0502020204030204" charset="0"/>
                <a:cs typeface="Calibri" panose="020F0502020204030204" charset="0"/>
                <a:sym typeface="+mn-ea"/>
              </a:rPr>
              <a:t>A conservative strategy </a:t>
            </a:r>
            <a:endParaRPr lang="en-US" sz="2800" i="1" dirty="0">
              <a:solidFill>
                <a:srgbClr val="303030"/>
              </a:solidFill>
              <a:latin typeface="Calibri" panose="020F0502020204030204" charset="0"/>
              <a:cs typeface="Calibri" panose="020F0502020204030204" charset="0"/>
              <a:sym typeface="+mn-ea"/>
            </a:endParaRPr>
          </a:p>
        </p:txBody>
      </p:sp>
      <p:grpSp>
        <p:nvGrpSpPr>
          <p:cNvPr id="12" name="Group 11"/>
          <p:cNvGrpSpPr/>
          <p:nvPr/>
        </p:nvGrpSpPr>
        <p:grpSpPr>
          <a:xfrm>
            <a:off x="242252" y="14372632"/>
            <a:ext cx="8190230" cy="8268292"/>
            <a:chOff x="267970" y="15261633"/>
            <a:chExt cx="8190230" cy="8268292"/>
          </a:xfrm>
        </p:grpSpPr>
        <p:sp>
          <p:nvSpPr>
            <p:cNvPr id="37" name="object 65"/>
            <p:cNvSpPr txBox="1"/>
            <p:nvPr/>
          </p:nvSpPr>
          <p:spPr>
            <a:xfrm>
              <a:off x="331855" y="15261633"/>
              <a:ext cx="4804410" cy="635000"/>
            </a:xfrm>
            <a:prstGeom prst="rect">
              <a:avLst/>
            </a:prstGeom>
          </p:spPr>
          <p:txBody>
            <a:bodyPr vert="horz" wrap="square" lIns="0" tIns="20081" rIns="0" bIns="0" rtlCol="0">
              <a:spAutoFit/>
            </a:bodyPr>
            <a:lstStyle/>
            <a:p>
              <a:pPr marL="19050">
                <a:spcBef>
                  <a:spcPts val="160"/>
                </a:spcBef>
              </a:pPr>
              <a:r>
                <a:rPr lang="en-US" sz="4000" b="1" i="1" spc="8" dirty="0">
                  <a:solidFill>
                    <a:schemeClr val="bg1"/>
                  </a:solidFill>
                  <a:latin typeface="Calibri" panose="020F0502020204030204" charset="0"/>
                  <a:ea typeface="Cascadia Code SemiBold" panose="020B0609020000020004" pitchFamily="49" charset="0"/>
                  <a:cs typeface="Calibri" panose="020F0502020204030204" charset="0"/>
                </a:rPr>
                <a:t>Preliminaries</a:t>
              </a:r>
              <a:endParaRPr lang="en-US" sz="4000" b="1" i="1" spc="8" dirty="0">
                <a:solidFill>
                  <a:schemeClr val="bg1"/>
                </a:solidFill>
                <a:latin typeface="Calibri" panose="020F0502020204030204" charset="0"/>
                <a:ea typeface="Cascadia Code SemiBold" panose="020B0609020000020004" pitchFamily="49" charset="0"/>
                <a:cs typeface="Calibri" panose="020F0502020204030204" charset="0"/>
              </a:endParaRPr>
            </a:p>
          </p:txBody>
        </p:sp>
        <p:pic>
          <p:nvPicPr>
            <p:cNvPr id="15" name="图片 14" descr="1724748800668"/>
            <p:cNvPicPr>
              <a:picLocks noChangeAspect="1"/>
            </p:cNvPicPr>
            <p:nvPr/>
          </p:nvPicPr>
          <p:blipFill>
            <a:blip r:embed="rId4"/>
            <a:stretch>
              <a:fillRect/>
            </a:stretch>
          </p:blipFill>
          <p:spPr>
            <a:xfrm>
              <a:off x="267970" y="16203930"/>
              <a:ext cx="8190230" cy="2940050"/>
            </a:xfrm>
            <a:prstGeom prst="rect">
              <a:avLst/>
            </a:prstGeom>
          </p:spPr>
        </p:pic>
        <p:pic>
          <p:nvPicPr>
            <p:cNvPr id="22" name="图片 21" descr="截屏2024-08-26 23.25.36"/>
            <p:cNvPicPr>
              <a:picLocks noChangeAspect="1"/>
            </p:cNvPicPr>
            <p:nvPr/>
          </p:nvPicPr>
          <p:blipFill>
            <a:blip r:embed="rId5"/>
            <a:srcRect l="3126" t="11304" r="3706" b="21664"/>
            <a:stretch>
              <a:fillRect/>
            </a:stretch>
          </p:blipFill>
          <p:spPr>
            <a:xfrm>
              <a:off x="609600" y="21195665"/>
              <a:ext cx="5362575" cy="507365"/>
            </a:xfrm>
            <a:prstGeom prst="rect">
              <a:avLst/>
            </a:prstGeom>
          </p:spPr>
        </p:pic>
        <p:pic>
          <p:nvPicPr>
            <p:cNvPr id="16" name="图片 2" descr="1724739900242"/>
            <p:cNvPicPr>
              <a:picLocks noChangeAspect="1"/>
            </p:cNvPicPr>
            <p:nvPr/>
          </p:nvPicPr>
          <p:blipFill>
            <a:blip r:embed="rId6"/>
            <a:srcRect l="3056" t="-5861" r="826" b="-7898"/>
            <a:stretch>
              <a:fillRect/>
            </a:stretch>
          </p:blipFill>
          <p:spPr>
            <a:xfrm>
              <a:off x="3284220" y="22573615"/>
              <a:ext cx="4831715" cy="558800"/>
            </a:xfrm>
            <a:prstGeom prst="rect">
              <a:avLst/>
            </a:prstGeom>
          </p:spPr>
        </p:pic>
        <p:pic>
          <p:nvPicPr>
            <p:cNvPr id="17" name="图片 3" descr="1724739949372"/>
            <p:cNvPicPr>
              <a:picLocks noChangeAspect="1"/>
            </p:cNvPicPr>
            <p:nvPr/>
          </p:nvPicPr>
          <p:blipFill>
            <a:blip r:embed="rId7"/>
            <a:srcRect l="49450" t="-25081" r="591" b="15027"/>
            <a:stretch>
              <a:fillRect/>
            </a:stretch>
          </p:blipFill>
          <p:spPr>
            <a:xfrm>
              <a:off x="3680460" y="23132415"/>
              <a:ext cx="4435475" cy="397510"/>
            </a:xfrm>
            <a:prstGeom prst="rect">
              <a:avLst/>
            </a:prstGeom>
          </p:spPr>
        </p:pic>
        <p:pic>
          <p:nvPicPr>
            <p:cNvPr id="23" name="图片 22" descr="微信截图_20240828061352"/>
            <p:cNvPicPr>
              <a:picLocks noChangeAspect="1"/>
            </p:cNvPicPr>
            <p:nvPr/>
          </p:nvPicPr>
          <p:blipFill>
            <a:blip r:embed="rId8"/>
            <a:srcRect l="2014" t="6892" b="16596"/>
            <a:stretch>
              <a:fillRect/>
            </a:stretch>
          </p:blipFill>
          <p:spPr>
            <a:xfrm>
              <a:off x="609600" y="19892645"/>
              <a:ext cx="3442335" cy="432435"/>
            </a:xfrm>
            <a:prstGeom prst="rect">
              <a:avLst/>
            </a:prstGeom>
          </p:spPr>
        </p:pic>
      </p:grpSp>
      <p:pic>
        <p:nvPicPr>
          <p:cNvPr id="24" name="图片 23" descr="1724797355218"/>
          <p:cNvPicPr>
            <a:picLocks noChangeAspect="1"/>
          </p:cNvPicPr>
          <p:nvPr/>
        </p:nvPicPr>
        <p:blipFill>
          <a:blip r:embed="rId9"/>
          <a:srcRect l="6831" t="6450" r="6962" b="1815"/>
          <a:stretch>
            <a:fillRect/>
          </a:stretch>
        </p:blipFill>
        <p:spPr>
          <a:xfrm>
            <a:off x="9228455" y="5400466"/>
            <a:ext cx="5238750" cy="4065905"/>
          </a:xfrm>
          <a:prstGeom prst="rect">
            <a:avLst/>
          </a:prstGeom>
        </p:spPr>
      </p:pic>
      <p:sp>
        <p:nvSpPr>
          <p:cNvPr id="30" name="object 7"/>
          <p:cNvSpPr txBox="1"/>
          <p:nvPr/>
        </p:nvSpPr>
        <p:spPr>
          <a:xfrm>
            <a:off x="8743950" y="21331554"/>
            <a:ext cx="12363450" cy="4649471"/>
          </a:xfrm>
          <a:prstGeom prst="rect">
            <a:avLst/>
          </a:prstGeom>
          <a:solidFill>
            <a:schemeClr val="bg1"/>
          </a:solidFill>
        </p:spPr>
        <p:txBody>
          <a:bodyPr vert="horz" wrap="square" lIns="0" tIns="21992" rIns="0" bIns="0" rtlCol="0">
            <a:noAutofit/>
          </a:bodyPr>
          <a:lstStyle/>
          <a:p>
            <a:pPr marL="361950" marR="7620" indent="-342900">
              <a:lnSpc>
                <a:spcPct val="101000"/>
              </a:lnSpc>
              <a:spcBef>
                <a:spcPts val="170"/>
              </a:spcBef>
              <a:buFont typeface="Arial" panose="020B0604020202020204" pitchFamily="34" charset="0"/>
              <a:buChar char="•"/>
            </a:pPr>
            <a:r>
              <a:rPr lang="en-US" sz="2800" i="1" dirty="0">
                <a:solidFill>
                  <a:srgbClr val="303030"/>
                </a:solidFill>
                <a:cs typeface="+mn-lt"/>
                <a:sym typeface="+mn-ea"/>
              </a:rPr>
              <a:t>For data collected through random and RND exploration, more data indeed helps the agents achieve convergence and better performance. </a:t>
            </a:r>
            <a:endParaRPr lang="en-US" sz="28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endParaRPr lang="en-US" sz="28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r>
              <a:rPr lang="en-US" sz="2800" i="1" dirty="0">
                <a:solidFill>
                  <a:srgbClr val="303030"/>
                </a:solidFill>
                <a:cs typeface="+mn-lt"/>
                <a:sym typeface="+mn-ea"/>
              </a:rPr>
              <a:t>At 1000 time steps exploration, random are lagging behind RND and PPO by a significant margin.</a:t>
            </a:r>
            <a:endParaRPr lang="en-US" sz="28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endParaRPr lang="en-US" sz="28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r>
              <a:rPr lang="en-US" altLang="zh-CN" sz="2800" i="1" dirty="0">
                <a:solidFill>
                  <a:srgbClr val="303030"/>
                </a:solidFill>
                <a:cs typeface="+mn-lt"/>
                <a:sym typeface="+mn-ea"/>
              </a:rPr>
              <a:t>The sampled</a:t>
            </a:r>
            <a:r>
              <a:rPr lang="en-US" sz="2800" i="1" dirty="0">
                <a:solidFill>
                  <a:srgbClr val="303030"/>
                </a:solidFill>
                <a:cs typeface="+mn-lt"/>
                <a:sym typeface="+mn-ea"/>
              </a:rPr>
              <a:t> goal </a:t>
            </a:r>
            <a:r>
              <a:rPr lang="en-US" altLang="zh-CN" sz="2800" i="1" dirty="0">
                <a:solidFill>
                  <a:srgbClr val="303030"/>
                </a:solidFill>
                <a:cs typeface="+mn-lt"/>
                <a:sym typeface="+mn-ea"/>
              </a:rPr>
              <a:t>hurts</a:t>
            </a:r>
            <a:r>
              <a:rPr lang="en-US" sz="2800" i="1" dirty="0">
                <a:solidFill>
                  <a:srgbClr val="303030"/>
                </a:solidFill>
                <a:cs typeface="+mn-lt"/>
                <a:sym typeface="+mn-ea"/>
              </a:rPr>
              <a:t> boost performance, even with achieved goals.</a:t>
            </a:r>
            <a:endParaRPr lang="en-US" sz="28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endParaRPr lang="en-US" sz="2800" i="1" dirty="0">
              <a:solidFill>
                <a:srgbClr val="303030"/>
              </a:solidFill>
              <a:cs typeface="+mn-lt"/>
              <a:sym typeface="+mn-ea"/>
            </a:endParaRPr>
          </a:p>
          <a:p>
            <a:pPr marL="361950" marR="7620" indent="-342900">
              <a:lnSpc>
                <a:spcPct val="101000"/>
              </a:lnSpc>
              <a:spcBef>
                <a:spcPts val="170"/>
              </a:spcBef>
              <a:buFont typeface="Arial" panose="020B0604020202020204" pitchFamily="34" charset="0"/>
              <a:buChar char="•"/>
            </a:pPr>
            <a:r>
              <a:rPr lang="en-US" sz="2800" i="1" dirty="0">
                <a:solidFill>
                  <a:srgbClr val="303030"/>
                </a:solidFill>
                <a:cs typeface="+mn-lt"/>
                <a:sym typeface="+mn-ea"/>
              </a:rPr>
              <a:t>Surprisingly, both Random and RND surpassed PPO at 20000-timesteps. The offline learning all beats the original PPO learned during exploration.</a:t>
            </a:r>
            <a:endParaRPr lang="en-US" sz="2800" i="1" dirty="0">
              <a:solidFill>
                <a:srgbClr val="303030"/>
              </a:solidFill>
              <a:cs typeface="+mn-lt"/>
              <a:sym typeface="+mn-ea"/>
            </a:endParaRPr>
          </a:p>
          <a:p>
            <a:pPr marL="19050" marR="7620">
              <a:lnSpc>
                <a:spcPct val="101000"/>
              </a:lnSpc>
              <a:spcBef>
                <a:spcPts val="170"/>
              </a:spcBef>
            </a:pPr>
            <a:endParaRPr lang="en-US" sz="2800" i="1" dirty="0">
              <a:solidFill>
                <a:srgbClr val="303030"/>
              </a:solidFill>
              <a:cs typeface="+mn-lt"/>
              <a:sym typeface="+mn-ea"/>
            </a:endParaRPr>
          </a:p>
        </p:txBody>
      </p:sp>
      <p:pic>
        <p:nvPicPr>
          <p:cNvPr id="3" name="图片 2" descr="Figure_1"/>
          <p:cNvPicPr>
            <a:picLocks noChangeAspect="1"/>
          </p:cNvPicPr>
          <p:nvPr/>
        </p:nvPicPr>
        <p:blipFill>
          <a:blip r:embed="rId10"/>
          <a:stretch>
            <a:fillRect/>
          </a:stretch>
        </p:blipFill>
        <p:spPr>
          <a:xfrm>
            <a:off x="8743950" y="17259300"/>
            <a:ext cx="6134310" cy="3754754"/>
          </a:xfrm>
          <a:prstGeom prst="rect">
            <a:avLst/>
          </a:prstGeom>
        </p:spPr>
      </p:pic>
      <p:pic>
        <p:nvPicPr>
          <p:cNvPr id="9" name="图片 8" descr="2"/>
          <p:cNvPicPr>
            <a:picLocks noChangeAspect="1"/>
          </p:cNvPicPr>
          <p:nvPr/>
        </p:nvPicPr>
        <p:blipFill>
          <a:blip r:embed="rId11"/>
          <a:stretch>
            <a:fillRect/>
          </a:stretch>
        </p:blipFill>
        <p:spPr>
          <a:xfrm>
            <a:off x="14771854" y="17259300"/>
            <a:ext cx="6345706" cy="3740783"/>
          </a:xfrm>
          <a:prstGeom prst="rect">
            <a:avLst/>
          </a:prstGeom>
        </p:spPr>
      </p:pic>
    </p:spTree>
  </p:cSld>
  <p:clrMapOvr>
    <a:masterClrMapping/>
  </p:clrMapOvr>
</p:sld>
</file>

<file path=ppt/tags/tag4.xml><?xml version="1.0" encoding="utf-8"?>
<p:tagLst xmlns:p="http://schemas.openxmlformats.org/presentationml/2006/main">
  <p:tag name="KSO_WPP_MARK_KEY" val="8ed4ce56-7fc8-4714-a06f-a7c9a3fce372"/>
  <p:tag name="COMMONDATA" val="eyJoZGlkIjoiYzA4MDU3ZWM0MGZjMjE4OWRjYjYwM2I4OTY4YjQ3MW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4abc6ae-156d-4c1c-8be5-7649ed41577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文档" ma:contentTypeID="0x01010073FB57F3AAA84846BE9C3AB9F82076C2" ma:contentTypeVersion="15" ma:contentTypeDescription="新建文档。" ma:contentTypeScope="" ma:versionID="c8598fcbde45aa55b84500288db1fd47">
  <xsd:schema xmlns:xsd="http://www.w3.org/2001/XMLSchema" xmlns:xs="http://www.w3.org/2001/XMLSchema" xmlns:p="http://schemas.microsoft.com/office/2006/metadata/properties" xmlns:ns3="74abc6ae-156d-4c1c-8be5-7649ed41577d" xmlns:ns4="53f12821-570a-40cf-bbf8-74c390ebce96" targetNamespace="http://schemas.microsoft.com/office/2006/metadata/properties" ma:root="true" ma:fieldsID="3ed0a16c3c59a3993cb60a8847d1cc47" ns3:_="" ns4:_="">
    <xsd:import namespace="74abc6ae-156d-4c1c-8be5-7649ed41577d"/>
    <xsd:import namespace="53f12821-570a-40cf-bbf8-74c390ebce96"/>
    <xsd:element name="properties">
      <xsd:complexType>
        <xsd:sequence>
          <xsd:element name="documentManagement">
            <xsd:complexType>
              <xsd:all>
                <xsd:element ref="ns3:MediaServiceMetadata" minOccurs="0"/>
                <xsd:element ref="ns3:MediaServiceFastMetadata" minOccurs="0"/>
                <xsd:element ref="ns3:_activity"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LengthInSecond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bc6ae-156d-4c1c-8be5-7649ed4157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f12821-570a-40cf-bbf8-74c390ebce96" elementFormDefault="qualified">
    <xsd:import namespace="http://schemas.microsoft.com/office/2006/documentManagement/types"/>
    <xsd:import namespace="http://schemas.microsoft.com/office/infopath/2007/PartnerControls"/>
    <xsd:element name="SharedWithUsers" ma:index="15"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享对象详细信息" ma:internalName="SharedWithDetails" ma:readOnly="true">
      <xsd:simpleType>
        <xsd:restriction base="dms:Note">
          <xsd:maxLength value="255"/>
        </xsd:restriction>
      </xsd:simpleType>
    </xsd:element>
    <xsd:element name="SharingHintHash" ma:index="17" nillable="true" ma:displayName="共享提示哈希"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C99517-70BB-4D11-9162-95B38512E7A9}">
  <ds:schemaRefs/>
</ds:datastoreItem>
</file>

<file path=customXml/itemProps2.xml><?xml version="1.0" encoding="utf-8"?>
<ds:datastoreItem xmlns:ds="http://schemas.openxmlformats.org/officeDocument/2006/customXml" ds:itemID="{3ACD3829-573A-460D-BB8F-93AEDB9BCDDF}">
  <ds:schemaRefs/>
</ds:datastoreItem>
</file>

<file path=customXml/itemProps3.xml><?xml version="1.0" encoding="utf-8"?>
<ds:datastoreItem xmlns:ds="http://schemas.openxmlformats.org/officeDocument/2006/customXml" ds:itemID="{8BC03095-8F6A-427E-871E-1E87E598D476}">
  <ds:schemaRefs/>
</ds:datastoreItem>
</file>

<file path=docProps/app.xml><?xml version="1.0" encoding="utf-8"?>
<Properties xmlns="http://schemas.openxmlformats.org/officeDocument/2006/extended-properties" xmlns:vt="http://schemas.openxmlformats.org/officeDocument/2006/docPropsVTypes">
  <TotalTime>0</TotalTime>
  <Words>4995</Words>
  <Application>WPS 演示</Application>
  <PresentationFormat>Custom</PresentationFormat>
  <Paragraphs>85</Paragraphs>
  <Slides>1</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宋体</vt:lpstr>
      <vt:lpstr>Wingdings</vt:lpstr>
      <vt:lpstr>Tahoma</vt:lpstr>
      <vt:lpstr>Calibri</vt:lpstr>
      <vt:lpstr>Segoe UI Black</vt:lpstr>
      <vt:lpstr>Cascadia Code SemiBold</vt:lpstr>
      <vt:lpstr>微软雅黑</vt:lpstr>
      <vt:lpstr>Arial Unicode MS</vt:lpstr>
      <vt:lpstr>等线 Light</vt:lpstr>
      <vt:lpstr>Calibri Light</vt:lpstr>
      <vt:lpstr>等线</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金 彦卓</dc:creator>
  <cp:lastModifiedBy>开篇为序</cp:lastModifiedBy>
  <cp:revision>91</cp:revision>
  <dcterms:created xsi:type="dcterms:W3CDTF">2024-08-28T03:58:00Z</dcterms:created>
  <dcterms:modified xsi:type="dcterms:W3CDTF">2026-01-30T06:48:11Z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06FBDFC8784E83B16CA0CE66533A7238_43</vt:lpwstr>
  </property>
  <property fmtid="{D5CDD505-2E9C-101B-9397-08002B2CF9AE}" pid="3" name="KSOProductBuildVer">
    <vt:lpwstr>2052-12.1.0.24657</vt:lpwstr>
  </property>
  <property fmtid="{D5CDD505-2E9C-101B-9397-08002B2CF9AE}" pid="4" name="ContentTypeId">
    <vt:lpwstr>0x01010073FB57F3AAA84846BE9C3AB9F82076C2</vt:lpwstr>
  </property>
</Properties>
</file>